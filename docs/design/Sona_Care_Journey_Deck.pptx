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469899"/>
            <a:ext cx="5715000" cy="1651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8597A4"/>
                </a:solidFill>
                <a:latin typeface="Inter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35000"/>
            <a:ext cx="11176000" cy="444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2D6A6E"/>
                </a:solidFill>
                <a:latin typeface="Inter"/>
              </a:rPr>
              <a:t>Sona — Care Journey &amp; Product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143000"/>
            <a:ext cx="9906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5B6B"/>
                </a:solidFill>
                <a:latin typeface="Inter"/>
              </a:rPr>
              <a:t>An AI co-pilot that reduces admin burnout in UK private Speech &amp; Language Therapy (SLT) — giving clinicians more productive time for care across a client's first 30 days.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4200" y="1727200"/>
            <a:ext cx="8890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2032000"/>
            <a:ext cx="52070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2D6A6E"/>
                </a:solidFill>
                <a:latin typeface="Inter"/>
              </a:rPr>
              <a:t>WHAT IS SONA?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286000"/>
            <a:ext cx="5143500" cy="279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42433"/>
                </a:solidFill>
                <a:latin typeface="Inter"/>
              </a:rPr>
              <a:t>Sona is an AI co-pilot for UK private Speech &amp; Language Therapy (SLT) practices.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900" b="0">
                <a:solidFill>
                  <a:srgbClr val="142433"/>
                </a:solidFill>
                <a:latin typeface="Inter"/>
              </a:rPr>
              <a:t>It does the repetitive admin alongside the clinician — capturing the enquiry, running a smart intake, prepping the consult, recording the triage decision, and drafting the first session plan and family summary, always as drafts for the clinician to review.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900" b="0">
                <a:solidFill>
                  <a:srgbClr val="142433"/>
                </a:solidFill>
                <a:latin typeface="Inter"/>
              </a:rPr>
              <a:t>Sona augments clinicians. Its purpose is to increase human productivity — less admin burnout, more time for care.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3300" y="2044700"/>
            <a:ext cx="12700" cy="298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8100" y="2032000"/>
            <a:ext cx="50800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2D6A6E"/>
                </a:solidFill>
                <a:latin typeface="Inter"/>
              </a:rPr>
              <a:t>HOW TO READ THIS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8100" y="2298700"/>
            <a:ext cx="50800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A5B6B"/>
                </a:solidFill>
                <a:latin typeface="Inter"/>
              </a:rPr>
              <a:t>Three views, read left → right: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8100" y="2578100"/>
            <a:ext cx="5207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D6A6E"/>
                </a:solidFill>
                <a:latin typeface="Inter"/>
              </a:rPr>
              <a:t>Executive</a:t>
            </a:r>
            <a:r>
              <a:rPr sz="900" b="0">
                <a:solidFill>
                  <a:srgbClr val="142433"/>
                </a:solidFill>
                <a:latin typeface="Inter"/>
              </a:rPr>
              <a:t>  —  the journey &amp; the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100" y="2832100"/>
            <a:ext cx="5207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D6A6E"/>
                </a:solidFill>
                <a:latin typeface="Inter"/>
              </a:rPr>
              <a:t>Product</a:t>
            </a:r>
            <a:r>
              <a:rPr sz="900" b="0">
                <a:solidFill>
                  <a:srgbClr val="142433"/>
                </a:solidFill>
                <a:latin typeface="Inter"/>
              </a:rPr>
              <a:t>  —  the proposed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8100" y="3086100"/>
            <a:ext cx="5207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D6A6E"/>
                </a:solidFill>
                <a:latin typeface="Inter"/>
              </a:rPr>
              <a:t>Process flow</a:t>
            </a:r>
            <a:r>
              <a:rPr sz="900" b="0">
                <a:solidFill>
                  <a:srgbClr val="142433"/>
                </a:solidFill>
                <a:latin typeface="Inter"/>
              </a:rPr>
              <a:t>  —  the To-Be swimlane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8100" y="3530600"/>
            <a:ext cx="5080000" cy="1651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2D6A6E"/>
                </a:solidFill>
                <a:latin typeface="Inter"/>
              </a:rPr>
              <a:t>WHO'S WHO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8100" y="3733799"/>
            <a:ext cx="5143500" cy="381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4A5B6B"/>
                </a:solidFill>
                <a:latin typeface="Inter"/>
              </a:rPr>
              <a:t>client / parent / carer — the family or adult client
clinician / SLT — the therapist    ·    practice — the private clinic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1500" y="5664200"/>
            <a:ext cx="11049000" cy="762000"/>
          </a:xfrm>
          <a:prstGeom prst="roundRect">
            <a:avLst>
              <a:gd name="adj" fmla="val 13333"/>
            </a:avLst>
          </a:prstGeom>
          <a:solidFill>
            <a:srgbClr val="E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4700" y="5803900"/>
            <a:ext cx="3810000" cy="152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2D6A6E"/>
                </a:solidFill>
                <a:latin typeface="Inter"/>
              </a:rPr>
              <a:t>ANCHOR PRINCIPLES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32500"/>
            <a:ext cx="26670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1E4A4D"/>
                </a:solidFill>
                <a:latin typeface="Inter"/>
              </a:rPr>
              <a:t>AI drafts, clinician decides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0600" y="6032500"/>
            <a:ext cx="26670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1E4A4D"/>
                </a:solidFill>
                <a:latin typeface="Inter"/>
              </a:rPr>
              <a:t>No screen time for children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6500" y="6032500"/>
            <a:ext cx="26670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1E4A4D"/>
                </a:solidFill>
                <a:latin typeface="Inter"/>
              </a:rPr>
              <a:t>UK data residency + audit by construction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0" y="6032500"/>
            <a:ext cx="26670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1E4A4D"/>
                </a:solidFill>
                <a:latin typeface="Inter"/>
              </a:rPr>
              <a:t>Augment people, never replace them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6007100"/>
            <a:ext cx="6350" cy="279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84900" y="6007100"/>
            <a:ext cx="6350" cy="279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51900" y="6007100"/>
            <a:ext cx="6350" cy="279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" y="6604000"/>
            <a:ext cx="57150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Sona — Care Journey &amp; Product Overview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14000" y="6604000"/>
            <a:ext cx="12065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469899"/>
            <a:ext cx="5715000" cy="1651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8597A4"/>
                </a:solidFill>
                <a:latin typeface="Inter"/>
              </a:rPr>
              <a:t>EXECUTIVE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35000"/>
            <a:ext cx="10160000" cy="381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D6A6E"/>
                </a:solidFill>
                <a:latin typeface="Inter"/>
              </a:rPr>
              <a:t>The care journey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66800"/>
            <a:ext cx="10287000" cy="317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5B6B"/>
                </a:solidFill>
                <a:latin typeface="Inter"/>
              </a:rPr>
              <a:t>How a new SLT case feels today, and where Sona reduces admin burnout and adds value — across five phases.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4200" y="1422400"/>
            <a:ext cx="8890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1500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1 · Find &amp; enquire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9239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5440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2 · Understand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6979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3180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3 · Meet &amp; decide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719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19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4 · Plan &amp; share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2459" y="1663700"/>
            <a:ext cx="2098040" cy="419100"/>
          </a:xfrm>
          <a:prstGeom prst="roundRect">
            <a:avLst>
              <a:gd name="adj" fmla="val 18181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98660" y="1663700"/>
            <a:ext cx="1945640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"/>
              </a:rPr>
              <a:t>5 · Progress 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" y="2286000"/>
            <a:ext cx="7620000" cy="152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8597A4"/>
                </a:solidFill>
                <a:latin typeface="Inter"/>
              </a:rPr>
              <a:t>HOW EACH PHASE FEELS  ·  one point per phase, family + clinician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620520" y="2095499"/>
            <a:ext cx="0" cy="1038607"/>
          </a:xfrm>
          <a:prstGeom prst="line">
            <a:avLst/>
          </a:prstGeom>
          <a:ln w="9525">
            <a:solidFill>
              <a:srgbClr val="D7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858259" y="2095499"/>
            <a:ext cx="0" cy="1120903"/>
          </a:xfrm>
          <a:prstGeom prst="line">
            <a:avLst/>
          </a:prstGeom>
          <a:ln w="9525">
            <a:solidFill>
              <a:srgbClr val="D7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6000" y="2095499"/>
            <a:ext cx="0" cy="819151"/>
          </a:xfrm>
          <a:prstGeom prst="line">
            <a:avLst/>
          </a:prstGeom>
          <a:ln w="9525">
            <a:solidFill>
              <a:srgbClr val="D7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333739" y="2095499"/>
            <a:ext cx="0" cy="627127"/>
          </a:xfrm>
          <a:prstGeom prst="line">
            <a:avLst/>
          </a:prstGeom>
          <a:ln w="9525">
            <a:solidFill>
              <a:srgbClr val="D7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571479" y="2095499"/>
            <a:ext cx="0" cy="503683"/>
          </a:xfrm>
          <a:prstGeom prst="line">
            <a:avLst/>
          </a:prstGeom>
          <a:ln w="9525">
            <a:solidFill>
              <a:srgbClr val="D7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reeform 22"/>
          <p:cNvSpPr/>
          <p:nvPr/>
        </p:nvSpPr>
        <p:spPr>
          <a:xfrm>
            <a:off x="1620520" y="2656332"/>
            <a:ext cx="8950959" cy="772668"/>
          </a:xfrm>
          <a:custGeom>
            <a:avLst/>
            <a:gdLst/>
            <a:ahLst/>
            <a:cxnLst/>
            <a:rect l="l" t="t" r="r" b="b"/>
            <a:pathLst>
              <a:path w="8950959" h="772668">
                <a:moveTo>
                  <a:pt x="0" y="772668"/>
                </a:moveTo>
                <a:lnTo>
                  <a:pt x="0" y="534924"/>
                </a:lnTo>
                <a:lnTo>
                  <a:pt x="2237739" y="617220"/>
                </a:lnTo>
                <a:lnTo>
                  <a:pt x="4475480" y="315468"/>
                </a:lnTo>
                <a:lnTo>
                  <a:pt x="6713219" y="123444"/>
                </a:lnTo>
                <a:lnTo>
                  <a:pt x="8950959" y="0"/>
                </a:lnTo>
                <a:lnTo>
                  <a:pt x="8950959" y="772668"/>
                </a:lnTo>
                <a:close/>
              </a:path>
            </a:pathLst>
          </a:custGeom>
          <a:solidFill>
            <a:srgbClr val="D9E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71500" y="3429000"/>
            <a:ext cx="11049000" cy="0"/>
          </a:xfrm>
          <a:prstGeom prst="line">
            <a:avLst/>
          </a:prstGeom>
          <a:ln w="952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620520" y="3191256"/>
            <a:ext cx="2237739" cy="82296"/>
          </a:xfrm>
          <a:prstGeom prst="line">
            <a:avLst/>
          </a:prstGeom>
          <a:ln w="2540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858259" y="2971800"/>
            <a:ext cx="2237741" cy="301752"/>
          </a:xfrm>
          <a:prstGeom prst="line">
            <a:avLst/>
          </a:prstGeom>
          <a:ln w="2540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096000" y="2779776"/>
            <a:ext cx="2237739" cy="192024"/>
          </a:xfrm>
          <a:prstGeom prst="line">
            <a:avLst/>
          </a:prstGeom>
          <a:ln w="2540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8333739" y="2656332"/>
            <a:ext cx="2237740" cy="123444"/>
          </a:xfrm>
          <a:prstGeom prst="line">
            <a:avLst/>
          </a:prstGeom>
          <a:ln w="2540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1550670" y="3121406"/>
            <a:ext cx="139700" cy="139700"/>
          </a:xfrm>
          <a:prstGeom prst="ellipse">
            <a:avLst/>
          </a:prstGeom>
          <a:solidFill>
            <a:srgbClr val="2D6A6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1500" y="3530600"/>
            <a:ext cx="2098040" cy="152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D6A6E"/>
                </a:solidFill>
                <a:latin typeface="Inter"/>
              </a:rPr>
              <a:t>Anxious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" y="3695700"/>
            <a:ext cx="2098040" cy="139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675" b="0">
                <a:solidFill>
                  <a:srgbClr val="4A5B6B"/>
                </a:solidFill>
                <a:latin typeface="Inter"/>
              </a:rPr>
              <a:t>unsure where to start</a:t>
            </a:r>
          </a:p>
        </p:txBody>
      </p:sp>
      <p:sp>
        <p:nvSpPr>
          <p:cNvPr id="32" name="Oval 31"/>
          <p:cNvSpPr/>
          <p:nvPr/>
        </p:nvSpPr>
        <p:spPr>
          <a:xfrm>
            <a:off x="3788409" y="3203701"/>
            <a:ext cx="139700" cy="139700"/>
          </a:xfrm>
          <a:prstGeom prst="ellipse">
            <a:avLst/>
          </a:prstGeom>
          <a:solidFill>
            <a:srgbClr val="35698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09239" y="3530600"/>
            <a:ext cx="2098040" cy="152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356985"/>
                </a:solidFill>
                <a:latin typeface="Inter"/>
              </a:rPr>
              <a:t>Overwhelmed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09239" y="3695700"/>
            <a:ext cx="2098040" cy="139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675" b="0">
                <a:solidFill>
                  <a:srgbClr val="4A5B6B"/>
                </a:solidFill>
                <a:latin typeface="Inter"/>
              </a:rPr>
              <a:t>so much to take in</a:t>
            </a:r>
          </a:p>
        </p:txBody>
      </p:sp>
      <p:sp>
        <p:nvSpPr>
          <p:cNvPr id="35" name="Oval 34"/>
          <p:cNvSpPr/>
          <p:nvPr/>
        </p:nvSpPr>
        <p:spPr>
          <a:xfrm>
            <a:off x="6026150" y="2901950"/>
            <a:ext cx="139700" cy="139700"/>
          </a:xfrm>
          <a:prstGeom prst="ellipse">
            <a:avLst/>
          </a:prstGeom>
          <a:solidFill>
            <a:srgbClr val="C070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46979" y="3530600"/>
            <a:ext cx="2098040" cy="152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C0703F"/>
                </a:solidFill>
                <a:latin typeface="Inter"/>
              </a:rPr>
              <a:t>Hopeful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6979" y="3695700"/>
            <a:ext cx="2098040" cy="139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675" b="0">
                <a:solidFill>
                  <a:srgbClr val="4A5B6B"/>
                </a:solidFill>
                <a:latin typeface="Inter"/>
              </a:rPr>
              <a:t>a clear path forward</a:t>
            </a:r>
          </a:p>
        </p:txBody>
      </p:sp>
      <p:sp>
        <p:nvSpPr>
          <p:cNvPr id="38" name="Oval 37"/>
          <p:cNvSpPr/>
          <p:nvPr/>
        </p:nvSpPr>
        <p:spPr>
          <a:xfrm>
            <a:off x="8263890" y="2709926"/>
            <a:ext cx="139700" cy="139700"/>
          </a:xfrm>
          <a:prstGeom prst="ellipse">
            <a:avLst/>
          </a:prstGeom>
          <a:solidFill>
            <a:srgbClr val="6E5A8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4719" y="3530600"/>
            <a:ext cx="2098040" cy="152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6E5A86"/>
                </a:solidFill>
                <a:latin typeface="Inter"/>
              </a:rPr>
              <a:t>Reassured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84719" y="3695700"/>
            <a:ext cx="2098040" cy="139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675" b="0">
                <a:solidFill>
                  <a:srgbClr val="4A5B6B"/>
                </a:solidFill>
                <a:latin typeface="Inter"/>
              </a:rPr>
              <a:t>kept in the loop</a:t>
            </a:r>
          </a:p>
        </p:txBody>
      </p:sp>
      <p:sp>
        <p:nvSpPr>
          <p:cNvPr id="41" name="Oval 40"/>
          <p:cNvSpPr/>
          <p:nvPr/>
        </p:nvSpPr>
        <p:spPr>
          <a:xfrm>
            <a:off x="10501630" y="2586482"/>
            <a:ext cx="139700" cy="139700"/>
          </a:xfrm>
          <a:prstGeom prst="ellipse">
            <a:avLst/>
          </a:prstGeom>
          <a:solidFill>
            <a:srgbClr val="4C80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22459" y="3530600"/>
            <a:ext cx="2098040" cy="152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4C8060"/>
                </a:solidFill>
                <a:latin typeface="Inter"/>
              </a:rPr>
              <a:t>Confident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22459" y="3695700"/>
            <a:ext cx="2098040" cy="139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675" b="0">
                <a:solidFill>
                  <a:srgbClr val="4A5B6B"/>
                </a:solidFill>
                <a:latin typeface="Inter"/>
              </a:rPr>
              <a:t>confident &amp; in control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1500" y="4038600"/>
            <a:ext cx="5715000" cy="152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8597A4"/>
                </a:solidFill>
                <a:latin typeface="Inter"/>
              </a:rPr>
              <a:t>TODAY'S PAIN — BY PHASE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71500" y="4241800"/>
            <a:ext cx="2098040" cy="736600"/>
          </a:xfrm>
          <a:prstGeom prst="roundRect">
            <a:avLst>
              <a:gd name="adj" fmla="val 10344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73100" y="4343400"/>
            <a:ext cx="57150" cy="57150"/>
          </a:xfrm>
          <a:prstGeom prst="ellipse">
            <a:avLst/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3100" y="4241800"/>
            <a:ext cx="1894839" cy="736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3A4A55"/>
                </a:solidFill>
                <a:latin typeface="Inter"/>
              </a:rPr>
              <a:t>Enquiries slip through the cracks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09239" y="4241800"/>
            <a:ext cx="2098040" cy="736600"/>
          </a:xfrm>
          <a:prstGeom prst="roundRect">
            <a:avLst>
              <a:gd name="adj" fmla="val 10344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910840" y="4343400"/>
            <a:ext cx="57150" cy="57150"/>
          </a:xfrm>
          <a:prstGeom prst="ellipse">
            <a:avLst/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10840" y="4241800"/>
            <a:ext cx="1894839" cy="736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3A4A55"/>
                </a:solidFill>
                <a:latin typeface="Inter"/>
              </a:rPr>
              <a:t>Chasing forms — everything is manual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46979" y="4241800"/>
            <a:ext cx="2098040" cy="736600"/>
          </a:xfrm>
          <a:prstGeom prst="roundRect">
            <a:avLst>
              <a:gd name="adj" fmla="val 10344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148580" y="4343400"/>
            <a:ext cx="57150" cy="57150"/>
          </a:xfrm>
          <a:prstGeom prst="ellipse">
            <a:avLst/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8580" y="4241800"/>
            <a:ext cx="1894839" cy="736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3A4A55"/>
                </a:solidFill>
                <a:latin typeface="Inter"/>
              </a:rPr>
              <a:t>Prep is rushed; the free consult under-delivers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84719" y="4241800"/>
            <a:ext cx="2098040" cy="736600"/>
          </a:xfrm>
          <a:prstGeom prst="roundRect">
            <a:avLst>
              <a:gd name="adj" fmla="val 10344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86319" y="4343400"/>
            <a:ext cx="57150" cy="57150"/>
          </a:xfrm>
          <a:prstGeom prst="ellipse">
            <a:avLst/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86319" y="4241800"/>
            <a:ext cx="1894839" cy="736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3A4A55"/>
                </a:solidFill>
                <a:latin typeface="Inter"/>
              </a:rPr>
              <a:t>Plans hand-built; reports take ~3 weeks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522459" y="4241800"/>
            <a:ext cx="2098040" cy="736600"/>
          </a:xfrm>
          <a:prstGeom prst="roundRect">
            <a:avLst>
              <a:gd name="adj" fmla="val 10344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624059" y="4343400"/>
            <a:ext cx="57150" cy="57150"/>
          </a:xfrm>
          <a:prstGeom prst="ellipse">
            <a:avLst/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24059" y="4241800"/>
            <a:ext cx="1894839" cy="736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3A4A55"/>
                </a:solidFill>
                <a:latin typeface="Inter"/>
              </a:rPr>
              <a:t>Carryover is ad-hoc (email / WhatsApp)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1500" y="5156200"/>
            <a:ext cx="5715000" cy="152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8597A4"/>
                </a:solidFill>
                <a:latin typeface="Inter"/>
              </a:rPr>
              <a:t>TARGET OUTCOMES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4200" y="5359400"/>
            <a:ext cx="5715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1500" y="5448300"/>
            <a:ext cx="5207000" cy="355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2D6A6E"/>
                </a:solidFill>
                <a:latin typeface="Inter"/>
              </a:rPr>
              <a:t>≥ 4 hours / month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1500" y="5867400"/>
            <a:ext cx="5207000" cy="190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A5B6B"/>
                </a:solidFill>
                <a:latin typeface="Inter"/>
              </a:rPr>
              <a:t>productive hours given back to each clinician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362700" y="5359400"/>
            <a:ext cx="5715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50000" y="5448300"/>
            <a:ext cx="5207000" cy="355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2D6A6E"/>
                </a:solidFill>
                <a:latin typeface="Inter"/>
              </a:rPr>
              <a:t>Same-day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50000" y="5867400"/>
            <a:ext cx="5207000" cy="190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A5B6B"/>
                </a:solidFill>
                <a:latin typeface="Inter"/>
              </a:rPr>
              <a:t>client summaries &amp; reports, vs the ~3-week manual baseline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1500" y="6604000"/>
            <a:ext cx="57150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Sona — Care Journey &amp; Product Overview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14000" y="6604000"/>
            <a:ext cx="12065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469899"/>
            <a:ext cx="5715000" cy="1651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8597A4"/>
                </a:solidFill>
                <a:latin typeface="Inter"/>
              </a:rPr>
              <a:t>PRODUCT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35000"/>
            <a:ext cx="10160000" cy="381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D6A6E"/>
                </a:solidFill>
                <a:latin typeface="Inter"/>
              </a:rPr>
              <a:t>The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66800"/>
            <a:ext cx="10541000" cy="317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5B6B"/>
                </a:solidFill>
                <a:latin typeface="Inter"/>
              </a:rPr>
              <a:t>The client's first 30 days as nine stages grouped into five phases — for each stage: what Sona does, and the surface that delivers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4200" y="1422400"/>
            <a:ext cx="889000" cy="31750"/>
          </a:xfrm>
          <a:prstGeom prst="roundRect">
            <a:avLst>
              <a:gd name="adj" fmla="val 4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1828800"/>
            <a:ext cx="939799" cy="317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4A5B6B"/>
                </a:solidFill>
                <a:latin typeface="Inter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197100"/>
            <a:ext cx="939799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4A5B6B"/>
                </a:solidFill>
                <a:latin typeface="Inter"/>
              </a:rPr>
              <a:t>Stage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2628900"/>
            <a:ext cx="939799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4A5B6B"/>
                </a:solidFill>
                <a:latin typeface="Inter"/>
              </a:rPr>
              <a:t>What Sona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3822700"/>
            <a:ext cx="939799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4A5B6B"/>
                </a:solidFill>
                <a:latin typeface="Inter"/>
              </a:rPr>
              <a:t>Surface / owner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87500" y="1828800"/>
            <a:ext cx="1058333" cy="317500"/>
          </a:xfrm>
          <a:prstGeom prst="roundRect">
            <a:avLst>
              <a:gd name="adj" fmla="val 20000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3700" y="1828800"/>
            <a:ext cx="905933" cy="317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Find &amp; enquire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9333" y="1828800"/>
            <a:ext cx="2180166" cy="317500"/>
          </a:xfrm>
          <a:prstGeom prst="roundRect">
            <a:avLst>
              <a:gd name="adj" fmla="val 20000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5533" y="1828800"/>
            <a:ext cx="2027766" cy="317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Understand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53000" y="1828800"/>
            <a:ext cx="3302000" cy="317500"/>
          </a:xfrm>
          <a:prstGeom prst="roundRect">
            <a:avLst>
              <a:gd name="adj" fmla="val 20000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828800"/>
            <a:ext cx="3149600" cy="317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Meet &amp; decide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18499" y="1828800"/>
            <a:ext cx="2180166" cy="317500"/>
          </a:xfrm>
          <a:prstGeom prst="roundRect">
            <a:avLst>
              <a:gd name="adj" fmla="val 20000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700" y="1828800"/>
            <a:ext cx="2027766" cy="317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Plan &amp; share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62166" y="1828800"/>
            <a:ext cx="1058333" cy="317500"/>
          </a:xfrm>
          <a:prstGeom prst="roundRect">
            <a:avLst>
              <a:gd name="adj" fmla="val 20000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38366" y="1828800"/>
            <a:ext cx="905933" cy="317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Progress together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87500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5600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1 · Referral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87500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DC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63700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Capture every enquiry — one case record + audit trail.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87500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DC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63700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— enquiry queue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09333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7433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2 · Smart intake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09333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85533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Adaptive magic-link intake + live status + consent.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09333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85533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Family / client portal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31166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69266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3 · Intake review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31166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07366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One-screen client overview / summary.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31166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07366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53000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91100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4 · Consult prep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AI prep brief — probes, red flags, references.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53000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0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+ AI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74833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12933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5 · Consultation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74833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1033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Schedule the consult + calendar / video links.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74833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51033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+ calendar / video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96666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34766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6 · Triage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96666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72866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Capture triage outcome + rationale.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96666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72866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— triage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18499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56600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7 · Session plan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18499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94700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AI-drafted, clinician-edited session plan.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318499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94700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Clinician web + AI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440333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478433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8 · Family summary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440333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16533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Tone / reading-level client summary via portal.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440333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6533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Client app / portal + AI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562166" y="2197100"/>
            <a:ext cx="1058333" cy="381000"/>
          </a:xfrm>
          <a:prstGeom prst="roundRect">
            <a:avLst>
              <a:gd name="adj" fmla="val 16666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600266" y="2197100"/>
            <a:ext cx="982133" cy="381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Inter"/>
              </a:rPr>
              <a:t>9 · Carryover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562166" y="2628900"/>
            <a:ext cx="1058333" cy="1143000"/>
          </a:xfrm>
          <a:prstGeom prst="roundRect">
            <a:avLst>
              <a:gd name="adj" fmla="val 6000"/>
            </a:avLst>
          </a:prstGeom>
          <a:solidFill>
            <a:srgbClr val="DCE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638366" y="2628900"/>
            <a:ext cx="905933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142433"/>
                </a:solidFill>
                <a:latin typeface="Inter"/>
              </a:rPr>
              <a:t>Resources, progress portal &amp; report loop.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562166" y="3822700"/>
            <a:ext cx="1058333" cy="762000"/>
          </a:xfrm>
          <a:prstGeom prst="roundRect">
            <a:avLst>
              <a:gd name="adj" fmla="val 8333"/>
            </a:avLst>
          </a:prstGeom>
          <a:solidFill>
            <a:srgbClr val="DCE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638366" y="3822700"/>
            <a:ext cx="905933" cy="76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Client app + clinician web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1500" y="4902200"/>
            <a:ext cx="5715000" cy="152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>
                <a:solidFill>
                  <a:srgbClr val="8597A4"/>
                </a:solidFill>
                <a:latin typeface="Inter"/>
              </a:rPr>
              <a:t>WHERE SONA WINS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71500" y="5118100"/>
            <a:ext cx="2667000" cy="520700"/>
          </a:xfrm>
          <a:prstGeom prst="roundRect">
            <a:avLst>
              <a:gd name="adj" fmla="val 14634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73100" y="5118100"/>
            <a:ext cx="2463800" cy="520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2D6A6E"/>
                </a:solidFill>
                <a:latin typeface="Inter"/>
              </a:rPr>
              <a:t>Own the first 30 days as one reviewed loop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365500" y="5118100"/>
            <a:ext cx="2667000" cy="520700"/>
          </a:xfrm>
          <a:prstGeom prst="roundRect">
            <a:avLst>
              <a:gd name="adj" fmla="val 14634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67100" y="5118100"/>
            <a:ext cx="2463800" cy="520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2D6A6E"/>
                </a:solidFill>
                <a:latin typeface="Inter"/>
              </a:rPr>
              <a:t>Trust is the moat — clinician signs every AI draft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159500" y="5118100"/>
            <a:ext cx="2667000" cy="520700"/>
          </a:xfrm>
          <a:prstGeom prst="roundRect">
            <a:avLst>
              <a:gd name="adj" fmla="val 14634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1100" y="5118100"/>
            <a:ext cx="2463800" cy="520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2D6A6E"/>
                </a:solidFill>
                <a:latin typeface="Inter"/>
              </a:rPr>
              <a:t>Start paediatric, then generalise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953500" y="5118100"/>
            <a:ext cx="2667000" cy="520700"/>
          </a:xfrm>
          <a:prstGeom prst="roundRect">
            <a:avLst>
              <a:gd name="adj" fmla="val 14634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055100" y="5118100"/>
            <a:ext cx="2463800" cy="520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2D6A6E"/>
                </a:solidFill>
                <a:latin typeface="Inter"/>
              </a:rPr>
              <a:t>UK data residency + clinical audit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1500" y="6388100"/>
            <a:ext cx="110490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625" b="0">
                <a:solidFill>
                  <a:srgbClr val="8597A4"/>
                </a:solidFill>
                <a:latin typeface="Inter"/>
              </a:rPr>
              <a:t>Colour groups the nine stages into their five phases.   ·   Generalized across SLTs (Pediatric &amp; Adult).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1500" y="6604000"/>
            <a:ext cx="57150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Sona — Care Journey &amp; Product Overview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414000" y="6604000"/>
            <a:ext cx="12065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406400"/>
            <a:ext cx="5715000" cy="1651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8597A4"/>
                </a:solidFill>
                <a:latin typeface="Inter"/>
              </a:rPr>
              <a:t>PROCESS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571500"/>
            <a:ext cx="9525000" cy="381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D6A6E"/>
                </a:solidFill>
                <a:latin typeface="Inter"/>
              </a:rPr>
              <a:t>How the journey runs with 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03300"/>
            <a:ext cx="10922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A5B6B"/>
                </a:solidFill>
                <a:latin typeface="Inter"/>
              </a:rPr>
              <a:t>A swimlane map of the proposed process.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473200"/>
            <a:ext cx="10439400" cy="124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1000" y="1473200"/>
            <a:ext cx="990599" cy="1244600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 rot="16200000">
            <a:off x="381000" y="1473200"/>
            <a:ext cx="990599" cy="124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Inter"/>
              </a:rPr>
              <a:t>Client / Parent / Carer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717800"/>
            <a:ext cx="10439400" cy="1244600"/>
          </a:xfrm>
          <a:prstGeom prst="rect">
            <a:avLst/>
          </a:prstGeom>
          <a:solidFill>
            <a:srgbClr val="F3F6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1000" y="2717800"/>
            <a:ext cx="990599" cy="1244600"/>
          </a:xfrm>
          <a:prstGeom prst="rect">
            <a:avLst/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16200000">
            <a:off x="381000" y="2717800"/>
            <a:ext cx="990599" cy="124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Inter"/>
              </a:rPr>
              <a:t>Clinician / SLT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3962399"/>
            <a:ext cx="10439400" cy="124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1000" y="3962399"/>
            <a:ext cx="990599" cy="1244600"/>
          </a:xfrm>
          <a:prstGeom prst="rect">
            <a:avLst/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381000" y="3962399"/>
            <a:ext cx="990599" cy="124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Inter"/>
              </a:rPr>
              <a:t>Sona  (app &amp; AI)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5207000"/>
            <a:ext cx="10439400" cy="1244600"/>
          </a:xfrm>
          <a:prstGeom prst="rect">
            <a:avLst/>
          </a:prstGeom>
          <a:solidFill>
            <a:srgbClr val="F3F6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1000" y="5207000"/>
            <a:ext cx="990599" cy="1244600"/>
          </a:xfrm>
          <a:prstGeom prst="rect">
            <a:avLst/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 rot="16200000">
            <a:off x="381000" y="5207000"/>
            <a:ext cx="990599" cy="124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Inter"/>
              </a:rPr>
              <a:t>External  (calendar · PMS)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35100" y="1854200"/>
            <a:ext cx="1041400" cy="482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8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8600" y="1854200"/>
            <a:ext cx="9144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1">
                <a:solidFill>
                  <a:srgbClr val="142433"/>
                </a:solidFill>
                <a:latin typeface="Inter"/>
              </a:rPr>
              <a:t>Enquiry arrives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75950" y="1854200"/>
            <a:ext cx="952500" cy="482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8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1854200"/>
            <a:ext cx="8255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1">
                <a:solidFill>
                  <a:srgbClr val="142433"/>
                </a:solidFill>
                <a:latin typeface="Inter"/>
              </a:rPr>
              <a:t>Ongoing care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40000" y="18732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03500" y="18732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Complete intake &amp; consent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26600" y="18732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0100" y="18732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Receive summary (app)</a:t>
            </a:r>
          </a:p>
        </p:txBody>
      </p:sp>
      <p:sp>
        <p:nvSpPr>
          <p:cNvPr id="26" name="Diamond 25"/>
          <p:cNvSpPr/>
          <p:nvPr/>
        </p:nvSpPr>
        <p:spPr>
          <a:xfrm>
            <a:off x="6038850" y="3009900"/>
            <a:ext cx="1092200" cy="660400"/>
          </a:xfrm>
          <a:prstGeom prst="diamond">
            <a:avLst/>
          </a:prstGeom>
          <a:solidFill>
            <a:srgbClr val="FFF0E6"/>
          </a:solidFill>
          <a:ln w="19050">
            <a:solidFill>
              <a:srgbClr val="C4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>
            <a:normAutofit/>
          </a:bodyPr>
          <a:lstStyle/>
          <a:p>
            <a:pPr algn="ctr"/>
            <a:r>
              <a:rPr sz="625" b="1">
                <a:solidFill>
                  <a:srgbClr val="142433"/>
                </a:solidFill>
                <a:latin typeface="Inter"/>
              </a:rPr>
              <a:t>Ongoing therapy?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13150" y="31178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6649" y="31178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Review overview + prep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26000" y="31178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89500" y="31178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Consultation (~20 min)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4900" y="31178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8399" y="31178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Strategy advice &amp; home tips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40800" y="31178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04300" y="31178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Edit &amp; sign plan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83800" y="31178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7300" y="31178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Review &amp; send summary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35100" y="43624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98600" y="43624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Capture enquiry + smart intake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62250" y="43624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25750" y="43624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AI prep brief (DRAFT)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88200" y="43624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51700" y="43624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AI session plan (DRAFT)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18600" y="43624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2100" y="43624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AI family summary (DRAFT)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363200" y="43624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26700" y="43624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Carryover + progress portal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92600" y="560705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56100" y="560705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Calendar / video link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363200" y="5613400"/>
            <a:ext cx="1016000" cy="444500"/>
          </a:xfrm>
          <a:prstGeom prst="roundRect">
            <a:avLst>
              <a:gd name="adj" fmla="val 17142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426700" y="5613400"/>
            <a:ext cx="889000" cy="444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625" b="0">
                <a:solidFill>
                  <a:srgbClr val="142433"/>
                </a:solidFill>
                <a:latin typeface="Inter"/>
              </a:rPr>
              <a:t>PMS sync (vision)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1943100" y="2336800"/>
            <a:ext cx="12700" cy="202565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943100" y="2317750"/>
            <a:ext cx="1104900" cy="20447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48000" y="2317750"/>
            <a:ext cx="222250" cy="20447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270250" y="3562350"/>
            <a:ext cx="850900" cy="8001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00600" y="3562350"/>
            <a:ext cx="533400" cy="20447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629150" y="3340100"/>
            <a:ext cx="196850" cy="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842000" y="3340100"/>
            <a:ext cx="196850" cy="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584950" y="3670300"/>
            <a:ext cx="1111249" cy="69215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950075" y="3876674"/>
            <a:ext cx="381000" cy="139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1">
                <a:solidFill>
                  <a:srgbClr val="4A5B6B"/>
                </a:solidFill>
                <a:latin typeface="Inter"/>
              </a:rPr>
              <a:t>Yes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131050" y="3340100"/>
            <a:ext cx="323850" cy="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102475" y="3200400"/>
            <a:ext cx="381000" cy="139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 b="1">
                <a:solidFill>
                  <a:srgbClr val="4A5B6B"/>
                </a:solidFill>
                <a:latin typeface="Inter"/>
              </a:rPr>
              <a:t>No</a:t>
            </a:r>
          </a:p>
        </p:txBody>
      </p:sp>
      <p:cxnSp>
        <p:nvCxnSpPr>
          <p:cNvPr id="62" name="Connector 61"/>
          <p:cNvCxnSpPr/>
          <p:nvPr/>
        </p:nvCxnSpPr>
        <p:spPr>
          <a:xfrm flipV="1">
            <a:off x="8204199" y="3340100"/>
            <a:ext cx="736601" cy="12446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448800" y="3562350"/>
            <a:ext cx="177800" cy="8001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8470900" y="3340100"/>
            <a:ext cx="647700" cy="12446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9626600" y="3562350"/>
            <a:ext cx="965200" cy="8001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10134600" y="2317750"/>
            <a:ext cx="457200" cy="8001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0591800" y="3562350"/>
            <a:ext cx="279400" cy="80010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642600" y="2095499"/>
            <a:ext cx="133350" cy="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871200" y="4806950"/>
            <a:ext cx="0" cy="806450"/>
          </a:xfrm>
          <a:prstGeom prst="bentConnector3">
            <a:avLst/>
          </a:prstGeom>
          <a:ln w="15875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371600" y="6464300"/>
            <a:ext cx="110490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625" b="0">
                <a:solidFill>
                  <a:srgbClr val="8597A4"/>
                </a:solidFill>
                <a:latin typeface="Inter"/>
              </a:rPr>
              <a:t>Shapes:  rounded = task   ·   diamond = decision   ·   pill = start / end.    DRAFT = AI artifact the clinician reviews &amp; signs.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1500" y="6654800"/>
            <a:ext cx="57150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Sona — Care Journey &amp; Product Overview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414000" y="6654800"/>
            <a:ext cx="1206500" cy="1397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0"/>
              </a:spcAft>
            </a:pPr>
            <a:r>
              <a:rPr sz="600" b="0">
                <a:solidFill>
                  <a:srgbClr val="8597A4"/>
                </a:solidFill>
                <a:latin typeface="Inter"/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