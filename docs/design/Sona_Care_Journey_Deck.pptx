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495299"/>
            <a:ext cx="5715000" cy="2159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8597A4"/>
                </a:solidFill>
                <a:latin typeface="Inter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749300"/>
            <a:ext cx="10922000" cy="635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2D6A6E"/>
                </a:solidFill>
                <a:latin typeface="Inter"/>
              </a:rPr>
              <a:t>Sona — Care Journey &amp; Product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498600"/>
            <a:ext cx="10541000" cy="609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4A5B6B"/>
                </a:solidFill>
                <a:latin typeface="Inter"/>
              </a:rPr>
              <a:t>An AI co-pilot that reduces admin burnout in UK private Speech &amp; Language Therapy (SLT) — giving clinicians more productive time for care across a client's first 30 days.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7700" y="2324100"/>
            <a:ext cx="1016000" cy="38100"/>
          </a:xfrm>
          <a:prstGeom prst="roundRect">
            <a:avLst>
              <a:gd name="adj" fmla="val 50000"/>
            </a:avLst>
          </a:prstGeom>
          <a:solidFill>
            <a:srgbClr val="F2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000" y="2654300"/>
            <a:ext cx="5334000" cy="254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D6A6E"/>
                </a:solidFill>
                <a:latin typeface="Inter"/>
              </a:rPr>
              <a:t>WHAT IS SONA?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3035300"/>
            <a:ext cx="5270500" cy="2667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42433"/>
                </a:solidFill>
                <a:latin typeface="Inter"/>
              </a:rPr>
              <a:t>Sona is an AI co-pilot for UK private Speech &amp; Language Therapy (SLT) practices.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700" b="0">
                <a:solidFill>
                  <a:srgbClr val="142433"/>
                </a:solidFill>
                <a:latin typeface="Inter"/>
              </a:rPr>
              <a:t>It does the repetitive admin alongside the clinician — capturing the enquiry, smart intake, consult prep, the triage decision, the first session plan and the family summary, always as drafts for the clinician to review.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700" b="0">
                <a:solidFill>
                  <a:srgbClr val="142433"/>
                </a:solidFill>
                <a:latin typeface="Inter"/>
              </a:rPr>
              <a:t>Sona augments clinicians — it increases human productivity: less admin burnout, more time for care.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6800" y="2667000"/>
            <a:ext cx="12700" cy="30861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1600" y="2654300"/>
            <a:ext cx="5207000" cy="254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D6A6E"/>
                </a:solidFill>
                <a:latin typeface="Inter"/>
              </a:rPr>
              <a:t>HOW TO READ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1600" y="3035300"/>
            <a:ext cx="5207000" cy="254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A5B6B"/>
                </a:solidFill>
                <a:latin typeface="Inter"/>
              </a:rPr>
              <a:t>Three views, read left → right: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1600" y="3429000"/>
            <a:ext cx="5461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6A6E"/>
                </a:solidFill>
                <a:latin typeface="Inter"/>
              </a:rPr>
              <a:t>Executive</a:t>
            </a:r>
            <a:r>
              <a:rPr sz="2000" b="0">
                <a:solidFill>
                  <a:srgbClr val="142433"/>
                </a:solidFill>
                <a:latin typeface="Inter"/>
              </a:rPr>
              <a:t>  —  the journey &amp; the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1600" y="3848099"/>
            <a:ext cx="5461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6A6E"/>
                </a:solidFill>
                <a:latin typeface="Inter"/>
              </a:rPr>
              <a:t>Product</a:t>
            </a:r>
            <a:r>
              <a:rPr sz="2000" b="0">
                <a:solidFill>
                  <a:srgbClr val="142433"/>
                </a:solidFill>
                <a:latin typeface="Inter"/>
              </a:rPr>
              <a:t>  —  the proposed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600" y="4267200"/>
            <a:ext cx="5461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6A6E"/>
                </a:solidFill>
                <a:latin typeface="Inter"/>
              </a:rPr>
              <a:t>Process flow</a:t>
            </a:r>
            <a:r>
              <a:rPr sz="2000" b="0">
                <a:solidFill>
                  <a:srgbClr val="142433"/>
                </a:solidFill>
                <a:latin typeface="Inter"/>
              </a:rPr>
              <a:t>  —  the To-Be swimlane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1600" y="4838700"/>
            <a:ext cx="520700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D6A6E"/>
                </a:solidFill>
                <a:latin typeface="Inter"/>
              </a:rPr>
              <a:t>WHO'S WHO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600" y="5118100"/>
            <a:ext cx="5334000" cy="5715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A5B6B"/>
                </a:solidFill>
                <a:latin typeface="Inter"/>
              </a:rPr>
              <a:t>client / parent / carer — the family or adult client
clinician / SLT — the therapist    ·    practice — the private clinic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000" y="5791200"/>
            <a:ext cx="10922000" cy="889000"/>
          </a:xfrm>
          <a:prstGeom prst="roundRect">
            <a:avLst>
              <a:gd name="adj" fmla="val 11428"/>
            </a:avLst>
          </a:prstGeom>
          <a:solidFill>
            <a:srgbClr val="E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" y="5956300"/>
            <a:ext cx="3810000" cy="20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6A6E"/>
                </a:solidFill>
                <a:latin typeface="Inter"/>
              </a:rPr>
              <a:t>ANCHOR PRINCIPLES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6273800"/>
            <a:ext cx="2730500" cy="254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4A4D"/>
                </a:solidFill>
                <a:latin typeface="Inter"/>
              </a:rPr>
              <a:t>AI drafts, clinician decides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8700" y="6273800"/>
            <a:ext cx="2730500" cy="254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4A4D"/>
                </a:solidFill>
                <a:latin typeface="Inter"/>
              </a:rPr>
              <a:t>No screen time for children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9200" y="6273800"/>
            <a:ext cx="2730500" cy="254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4A4D"/>
                </a:solidFill>
                <a:latin typeface="Inter"/>
              </a:rPr>
              <a:t>UK data residency +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2700" y="6273800"/>
            <a:ext cx="2730500" cy="254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4A4D"/>
                </a:solidFill>
                <a:latin typeface="Inter"/>
              </a:rPr>
              <a:t>Augment people, never replace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67100" y="6235700"/>
            <a:ext cx="6350" cy="3302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7600" y="6235700"/>
            <a:ext cx="6350" cy="3302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01100" y="6235700"/>
            <a:ext cx="6350" cy="3302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6642100"/>
            <a:ext cx="5715000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597A4"/>
                </a:solidFill>
                <a:latin typeface="Inter"/>
              </a:rPr>
              <a:t>Sona — Care Journey &amp; Product Overview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6642100"/>
            <a:ext cx="1270000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597A4"/>
                </a:solidFill>
                <a:latin typeface="Inter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431800"/>
            <a:ext cx="5715000" cy="20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597A4"/>
                </a:solidFill>
                <a:latin typeface="Inter"/>
              </a:rPr>
              <a:t>EXECUTIVE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660400"/>
            <a:ext cx="10414000" cy="50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2D6A6E"/>
                </a:solidFill>
                <a:latin typeface="Inter"/>
              </a:rPr>
              <a:t>The care journey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333500"/>
            <a:ext cx="10541000" cy="2921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A5B6B"/>
                </a:solidFill>
                <a:latin typeface="Inter"/>
              </a:rPr>
              <a:t>How a new SLT case feels today, and where Sona reduces admin burnout and adds value — across five phases.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7700" y="1727200"/>
            <a:ext cx="952500" cy="38100"/>
          </a:xfrm>
          <a:prstGeom prst="roundRect">
            <a:avLst>
              <a:gd name="adj" fmla="val 50000"/>
            </a:avLst>
          </a:prstGeom>
          <a:solidFill>
            <a:srgbClr val="F2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000" y="1905000"/>
            <a:ext cx="2072640" cy="533400"/>
          </a:xfrm>
          <a:prstGeom prst="roundRect">
            <a:avLst>
              <a:gd name="adj" fmla="val 16666"/>
            </a:avLst>
          </a:prstGeom>
          <a:solidFill>
            <a:srgbClr val="2D6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1905000"/>
            <a:ext cx="1894839" cy="533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1 · Find &amp; enquire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7340" y="1905000"/>
            <a:ext cx="2072640" cy="533400"/>
          </a:xfrm>
          <a:prstGeom prst="roundRect">
            <a:avLst>
              <a:gd name="adj" fmla="val 16666"/>
            </a:avLst>
          </a:prstGeom>
          <a:solidFill>
            <a:srgbClr val="3569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6239" y="1905000"/>
            <a:ext cx="1894839" cy="533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2 · Understand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9680" y="1905000"/>
            <a:ext cx="2072640" cy="533400"/>
          </a:xfrm>
          <a:prstGeom prst="roundRect">
            <a:avLst>
              <a:gd name="adj" fmla="val 16666"/>
            </a:avLst>
          </a:prstGeom>
          <a:solidFill>
            <a:srgbClr val="C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580" y="1905000"/>
            <a:ext cx="1894839" cy="533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3 · Meet &amp; decide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2019" y="1905000"/>
            <a:ext cx="2072640" cy="533400"/>
          </a:xfrm>
          <a:prstGeom prst="roundRect">
            <a:avLst>
              <a:gd name="adj" fmla="val 16666"/>
            </a:avLst>
          </a:prstGeom>
          <a:solidFill>
            <a:srgbClr val="6E5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19" y="1905000"/>
            <a:ext cx="1894839" cy="533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4 · Plan &amp; share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84360" y="1905000"/>
            <a:ext cx="2072640" cy="533400"/>
          </a:xfrm>
          <a:prstGeom prst="roundRect">
            <a:avLst>
              <a:gd name="adj" fmla="val 16666"/>
            </a:avLst>
          </a:prstGeom>
          <a:solidFill>
            <a:srgbClr val="4C8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3259" y="1905000"/>
            <a:ext cx="1894839" cy="533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5 · Progress together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" y="2590800"/>
            <a:ext cx="8255000" cy="1905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597A4"/>
                </a:solidFill>
                <a:latin typeface="Inter"/>
              </a:rPr>
              <a:t>HOW EACH PHASE FEELS  ·  one point per phase, family + clinician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71320" y="2451100"/>
            <a:ext cx="0" cy="857250"/>
          </a:xfrm>
          <a:prstGeom prst="line">
            <a:avLst/>
          </a:prstGeom>
          <a:ln w="9525">
            <a:solidFill>
              <a:srgbClr val="D7DD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3659" y="2451100"/>
            <a:ext cx="0" cy="933450"/>
          </a:xfrm>
          <a:prstGeom prst="line">
            <a:avLst/>
          </a:prstGeom>
          <a:ln w="9525">
            <a:solidFill>
              <a:srgbClr val="D7DD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6000" y="2451100"/>
            <a:ext cx="0" cy="654050"/>
          </a:xfrm>
          <a:prstGeom prst="line">
            <a:avLst/>
          </a:prstGeom>
          <a:ln w="9525">
            <a:solidFill>
              <a:srgbClr val="D7DD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308339" y="2451100"/>
            <a:ext cx="0" cy="476250"/>
          </a:xfrm>
          <a:prstGeom prst="line">
            <a:avLst/>
          </a:prstGeom>
          <a:ln w="9525">
            <a:solidFill>
              <a:srgbClr val="D7DD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20680" y="2451100"/>
            <a:ext cx="0" cy="361950"/>
          </a:xfrm>
          <a:prstGeom prst="line">
            <a:avLst/>
          </a:prstGeom>
          <a:ln w="9525">
            <a:solidFill>
              <a:srgbClr val="D7DD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1671320" y="2895600"/>
            <a:ext cx="8849360" cy="660400"/>
          </a:xfrm>
          <a:custGeom>
            <a:avLst/>
            <a:gdLst/>
            <a:ahLst/>
            <a:cxnLst/>
            <a:rect l="l" t="t" r="r" b="b"/>
            <a:pathLst>
              <a:path w="8849360" h="660400">
                <a:moveTo>
                  <a:pt x="0" y="660400"/>
                </a:moveTo>
                <a:lnTo>
                  <a:pt x="0" y="495300"/>
                </a:lnTo>
                <a:lnTo>
                  <a:pt x="2212339" y="571500"/>
                </a:lnTo>
                <a:lnTo>
                  <a:pt x="4424680" y="292100"/>
                </a:lnTo>
                <a:lnTo>
                  <a:pt x="6637019" y="114300"/>
                </a:lnTo>
                <a:lnTo>
                  <a:pt x="8849360" y="0"/>
                </a:lnTo>
                <a:lnTo>
                  <a:pt x="8849360" y="660400"/>
                </a:lnTo>
                <a:close/>
              </a:path>
            </a:pathLst>
          </a:custGeom>
          <a:solidFill>
            <a:srgbClr val="D9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35000" y="3556000"/>
            <a:ext cx="10922000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671320" y="3390900"/>
            <a:ext cx="2212339" cy="76200"/>
          </a:xfrm>
          <a:prstGeom prst="line">
            <a:avLst/>
          </a:prstGeom>
          <a:ln w="31750">
            <a:solidFill>
              <a:srgbClr val="2D6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883659" y="3187700"/>
            <a:ext cx="2212341" cy="279400"/>
          </a:xfrm>
          <a:prstGeom prst="line">
            <a:avLst/>
          </a:prstGeom>
          <a:ln w="31750">
            <a:solidFill>
              <a:srgbClr val="2D6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096000" y="3009900"/>
            <a:ext cx="2212339" cy="177800"/>
          </a:xfrm>
          <a:prstGeom prst="line">
            <a:avLst/>
          </a:prstGeom>
          <a:ln w="31750">
            <a:solidFill>
              <a:srgbClr val="2D6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08339" y="2895600"/>
            <a:ext cx="2212341" cy="114300"/>
          </a:xfrm>
          <a:prstGeom prst="line">
            <a:avLst/>
          </a:prstGeom>
          <a:ln w="31750">
            <a:solidFill>
              <a:srgbClr val="2D6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588769" y="3308350"/>
            <a:ext cx="165100" cy="165100"/>
          </a:xfrm>
          <a:prstGeom prst="ellipse">
            <a:avLst/>
          </a:prstGeom>
          <a:solidFill>
            <a:srgbClr val="2D6A6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0" y="3657600"/>
            <a:ext cx="2072640" cy="203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D6A6E"/>
                </a:solidFill>
                <a:latin typeface="Inter"/>
              </a:rPr>
              <a:t>Anxious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" y="3898900"/>
            <a:ext cx="2072640" cy="177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4A5B6B"/>
                </a:solidFill>
                <a:latin typeface="Inter"/>
              </a:rPr>
              <a:t>unsure where to start</a:t>
            </a:r>
          </a:p>
        </p:txBody>
      </p:sp>
      <p:sp>
        <p:nvSpPr>
          <p:cNvPr id="32" name="Oval 31"/>
          <p:cNvSpPr/>
          <p:nvPr/>
        </p:nvSpPr>
        <p:spPr>
          <a:xfrm>
            <a:off x="3801109" y="3384550"/>
            <a:ext cx="165100" cy="165100"/>
          </a:xfrm>
          <a:prstGeom prst="ellipse">
            <a:avLst/>
          </a:prstGeom>
          <a:solidFill>
            <a:srgbClr val="35698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47340" y="3657600"/>
            <a:ext cx="2072640" cy="203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56985"/>
                </a:solidFill>
                <a:latin typeface="Inter"/>
              </a:rPr>
              <a:t>Overwhelmed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47340" y="3898900"/>
            <a:ext cx="2072640" cy="177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4A5B6B"/>
                </a:solidFill>
                <a:latin typeface="Inter"/>
              </a:rPr>
              <a:t>so much to take in</a:t>
            </a:r>
          </a:p>
        </p:txBody>
      </p:sp>
      <p:sp>
        <p:nvSpPr>
          <p:cNvPr id="35" name="Oval 34"/>
          <p:cNvSpPr/>
          <p:nvPr/>
        </p:nvSpPr>
        <p:spPr>
          <a:xfrm>
            <a:off x="6013450" y="3105150"/>
            <a:ext cx="165100" cy="165100"/>
          </a:xfrm>
          <a:prstGeom prst="ellipse">
            <a:avLst/>
          </a:prstGeom>
          <a:solidFill>
            <a:srgbClr val="C0703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59680" y="3657600"/>
            <a:ext cx="2072640" cy="203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C0703F"/>
                </a:solidFill>
                <a:latin typeface="Inter"/>
              </a:rPr>
              <a:t>Hopeful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59680" y="3898900"/>
            <a:ext cx="2072640" cy="177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4A5B6B"/>
                </a:solidFill>
                <a:latin typeface="Inter"/>
              </a:rPr>
              <a:t>a clear path forward</a:t>
            </a:r>
          </a:p>
        </p:txBody>
      </p:sp>
      <p:sp>
        <p:nvSpPr>
          <p:cNvPr id="38" name="Oval 37"/>
          <p:cNvSpPr/>
          <p:nvPr/>
        </p:nvSpPr>
        <p:spPr>
          <a:xfrm>
            <a:off x="8225789" y="2927350"/>
            <a:ext cx="165100" cy="165100"/>
          </a:xfrm>
          <a:prstGeom prst="ellipse">
            <a:avLst/>
          </a:prstGeom>
          <a:solidFill>
            <a:srgbClr val="6E5A8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72019" y="3657600"/>
            <a:ext cx="2072640" cy="203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6E5A86"/>
                </a:solidFill>
                <a:latin typeface="Inter"/>
              </a:rPr>
              <a:t>Reassured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72019" y="3898900"/>
            <a:ext cx="2072640" cy="177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4A5B6B"/>
                </a:solidFill>
                <a:latin typeface="Inter"/>
              </a:rPr>
              <a:t>kept in the loop</a:t>
            </a:r>
          </a:p>
        </p:txBody>
      </p:sp>
      <p:sp>
        <p:nvSpPr>
          <p:cNvPr id="41" name="Oval 40"/>
          <p:cNvSpPr/>
          <p:nvPr/>
        </p:nvSpPr>
        <p:spPr>
          <a:xfrm>
            <a:off x="10438130" y="2813050"/>
            <a:ext cx="165100" cy="165100"/>
          </a:xfrm>
          <a:prstGeom prst="ellipse">
            <a:avLst/>
          </a:prstGeom>
          <a:solidFill>
            <a:srgbClr val="4C80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84360" y="3657600"/>
            <a:ext cx="2072640" cy="203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4C8060"/>
                </a:solidFill>
                <a:latin typeface="Inter"/>
              </a:rPr>
              <a:t>Confident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84360" y="3898900"/>
            <a:ext cx="2072640" cy="177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4A5B6B"/>
                </a:solidFill>
                <a:latin typeface="Inter"/>
              </a:rPr>
              <a:t>confident &amp; in control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000" y="4216400"/>
            <a:ext cx="5715000" cy="1905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597A4"/>
                </a:solidFill>
                <a:latin typeface="Inter"/>
              </a:rPr>
              <a:t>TODAY'S PAIN — BY PHASE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000" y="4445000"/>
            <a:ext cx="2072640" cy="749300"/>
          </a:xfrm>
          <a:prstGeom prst="roundRect">
            <a:avLst>
              <a:gd name="adj" fmla="val 10169"/>
            </a:avLst>
          </a:prstGeom>
          <a:solidFill>
            <a:srgbClr val="F2F5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49300" y="4559300"/>
            <a:ext cx="69850" cy="69850"/>
          </a:xfrm>
          <a:prstGeom prst="ellipse">
            <a:avLst/>
          </a:prstGeom>
          <a:solidFill>
            <a:srgbClr val="2D6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300" y="4445000"/>
            <a:ext cx="1844040" cy="7493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3A4A55"/>
                </a:solidFill>
                <a:latin typeface="Inter"/>
              </a:rPr>
              <a:t>Enquiries slip through the cracks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47340" y="4445000"/>
            <a:ext cx="2072640" cy="749300"/>
          </a:xfrm>
          <a:prstGeom prst="roundRect">
            <a:avLst>
              <a:gd name="adj" fmla="val 10169"/>
            </a:avLst>
          </a:prstGeom>
          <a:solidFill>
            <a:srgbClr val="F2F5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961640" y="4559300"/>
            <a:ext cx="69850" cy="69850"/>
          </a:xfrm>
          <a:prstGeom prst="ellipse">
            <a:avLst/>
          </a:prstGeom>
          <a:solidFill>
            <a:srgbClr val="3569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61640" y="4445000"/>
            <a:ext cx="1844040" cy="7493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3A4A55"/>
                </a:solidFill>
                <a:latin typeface="Inter"/>
              </a:rPr>
              <a:t>Chasing forms — everything is manual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59680" y="4445000"/>
            <a:ext cx="2072640" cy="749300"/>
          </a:xfrm>
          <a:prstGeom prst="roundRect">
            <a:avLst>
              <a:gd name="adj" fmla="val 10169"/>
            </a:avLst>
          </a:prstGeom>
          <a:solidFill>
            <a:srgbClr val="F2F5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173980" y="4559300"/>
            <a:ext cx="69850" cy="69850"/>
          </a:xfrm>
          <a:prstGeom prst="ellipse">
            <a:avLst/>
          </a:prstGeom>
          <a:solidFill>
            <a:srgbClr val="C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73980" y="4445000"/>
            <a:ext cx="1844040" cy="7493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3A4A55"/>
                </a:solidFill>
                <a:latin typeface="Inter"/>
              </a:rPr>
              <a:t>Prep is rushed; the free consult under-delivers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72019" y="4445000"/>
            <a:ext cx="2072640" cy="749300"/>
          </a:xfrm>
          <a:prstGeom prst="roundRect">
            <a:avLst>
              <a:gd name="adj" fmla="val 10169"/>
            </a:avLst>
          </a:prstGeom>
          <a:solidFill>
            <a:srgbClr val="F2F5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386319" y="4559300"/>
            <a:ext cx="69850" cy="69850"/>
          </a:xfrm>
          <a:prstGeom prst="ellipse">
            <a:avLst/>
          </a:prstGeom>
          <a:solidFill>
            <a:srgbClr val="6E5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86319" y="4445000"/>
            <a:ext cx="1844040" cy="7493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3A4A55"/>
                </a:solidFill>
                <a:latin typeface="Inter"/>
              </a:rPr>
              <a:t>Plans hand-built; reports take ~3 weeks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84360" y="4445000"/>
            <a:ext cx="2072640" cy="749300"/>
          </a:xfrm>
          <a:prstGeom prst="roundRect">
            <a:avLst>
              <a:gd name="adj" fmla="val 10169"/>
            </a:avLst>
          </a:prstGeom>
          <a:solidFill>
            <a:srgbClr val="F2F5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598660" y="4559300"/>
            <a:ext cx="69850" cy="69850"/>
          </a:xfrm>
          <a:prstGeom prst="ellipse">
            <a:avLst/>
          </a:prstGeom>
          <a:solidFill>
            <a:srgbClr val="4C8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98660" y="4445000"/>
            <a:ext cx="1844040" cy="7493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3A4A55"/>
                </a:solidFill>
                <a:latin typeface="Inter"/>
              </a:rPr>
              <a:t>Carryover is ad-hoc (email / WhatsApp)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000" y="5410200"/>
            <a:ext cx="5715000" cy="1905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597A4"/>
                </a:solidFill>
                <a:latin typeface="Inter"/>
              </a:rPr>
              <a:t>TARGET OUTCOMES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7700" y="5638800"/>
            <a:ext cx="635000" cy="38100"/>
          </a:xfrm>
          <a:prstGeom prst="roundRect">
            <a:avLst>
              <a:gd name="adj" fmla="val 50000"/>
            </a:avLst>
          </a:prstGeom>
          <a:solidFill>
            <a:srgbClr val="F2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5000" y="5727700"/>
            <a:ext cx="5461000" cy="4445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2D6A6E"/>
                </a:solidFill>
                <a:latin typeface="Inter"/>
              </a:rPr>
              <a:t>≥ 4 hours / month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5000" y="6235700"/>
            <a:ext cx="5461000" cy="254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A5B6B"/>
                </a:solidFill>
                <a:latin typeface="Inter"/>
              </a:rPr>
              <a:t>productive hours given back to each clinician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26200" y="5638800"/>
            <a:ext cx="635000" cy="38100"/>
          </a:xfrm>
          <a:prstGeom prst="roundRect">
            <a:avLst>
              <a:gd name="adj" fmla="val 50000"/>
            </a:avLst>
          </a:prstGeom>
          <a:solidFill>
            <a:srgbClr val="F2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13500" y="5727700"/>
            <a:ext cx="5207000" cy="4445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2D6A6E"/>
                </a:solidFill>
                <a:latin typeface="Inter"/>
              </a:rPr>
              <a:t>Same-day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13500" y="6235700"/>
            <a:ext cx="5270500" cy="254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A5B6B"/>
                </a:solidFill>
                <a:latin typeface="Inter"/>
              </a:rPr>
              <a:t>client summaries &amp; reports, vs the ~3-week manual baseline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5000" y="6642100"/>
            <a:ext cx="5715000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597A4"/>
                </a:solidFill>
                <a:latin typeface="Inter"/>
              </a:rPr>
              <a:t>Sona — Care Journey &amp; Product Overview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87000" y="6642100"/>
            <a:ext cx="1270000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597A4"/>
                </a:solidFill>
                <a:latin typeface="Inter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457200"/>
            <a:ext cx="5715000" cy="20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597A4"/>
                </a:solidFill>
                <a:latin typeface="Inter"/>
              </a:rPr>
              <a:t>PRODUCT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685800"/>
            <a:ext cx="10414000" cy="50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2D6A6E"/>
                </a:solidFill>
                <a:latin typeface="Inter"/>
              </a:rPr>
              <a:t>The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358900"/>
            <a:ext cx="10668000" cy="2921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A5B6B"/>
                </a:solidFill>
                <a:latin typeface="Inter"/>
              </a:rPr>
              <a:t>The first 30 days as nine stages grouped into five phases — what Sona does, and the surface that delivers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879599"/>
            <a:ext cx="1117600" cy="355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A5B6B"/>
                </a:solidFill>
                <a:latin typeface="Inter"/>
              </a:rPr>
              <a:t>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286000"/>
            <a:ext cx="1117600" cy="4191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A5B6B"/>
                </a:solidFill>
                <a:latin typeface="Inter"/>
              </a:rPr>
              <a:t>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2755900"/>
            <a:ext cx="1117600" cy="13335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A5B6B"/>
                </a:solidFill>
                <a:latin typeface="Inter"/>
              </a:rPr>
              <a:t>What Sona
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4140200"/>
            <a:ext cx="1117600" cy="7493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A5B6B"/>
                </a:solidFill>
                <a:latin typeface="Inter"/>
              </a:rPr>
              <a:t>Surface /
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1500" y="1879599"/>
            <a:ext cx="1011766" cy="355600"/>
          </a:xfrm>
          <a:prstGeom prst="roundRect">
            <a:avLst>
              <a:gd name="adj" fmla="val 17857"/>
            </a:avLst>
          </a:prstGeom>
          <a:solidFill>
            <a:srgbClr val="2D6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30400" y="1879599"/>
            <a:ext cx="833966" cy="355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Find &amp; enquire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466" y="1879599"/>
            <a:ext cx="2099733" cy="355600"/>
          </a:xfrm>
          <a:prstGeom prst="roundRect">
            <a:avLst>
              <a:gd name="adj" fmla="val 17857"/>
            </a:avLst>
          </a:prstGeom>
          <a:solidFill>
            <a:srgbClr val="3569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8366" y="1879599"/>
            <a:ext cx="1921933" cy="355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Understand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05400" y="1879599"/>
            <a:ext cx="3187700" cy="355600"/>
          </a:xfrm>
          <a:prstGeom prst="roundRect">
            <a:avLst>
              <a:gd name="adj" fmla="val 17857"/>
            </a:avLst>
          </a:prstGeom>
          <a:solidFill>
            <a:srgbClr val="C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4300" y="1879599"/>
            <a:ext cx="3009900" cy="355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Meet &amp; decide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9300" y="1879599"/>
            <a:ext cx="2099733" cy="355600"/>
          </a:xfrm>
          <a:prstGeom prst="roundRect">
            <a:avLst>
              <a:gd name="adj" fmla="val 17857"/>
            </a:avLst>
          </a:prstGeom>
          <a:solidFill>
            <a:srgbClr val="6E5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879599"/>
            <a:ext cx="1921933" cy="355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Plan &amp; share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45233" y="1879599"/>
            <a:ext cx="1011766" cy="355600"/>
          </a:xfrm>
          <a:prstGeom prst="roundRect">
            <a:avLst>
              <a:gd name="adj" fmla="val 17857"/>
            </a:avLst>
          </a:prstGeom>
          <a:solidFill>
            <a:srgbClr val="4C8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34133" y="1879599"/>
            <a:ext cx="833966" cy="355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Progress together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1500" y="2286000"/>
            <a:ext cx="1011766" cy="419100"/>
          </a:xfrm>
          <a:prstGeom prst="roundRect">
            <a:avLst>
              <a:gd name="adj" fmla="val 15151"/>
            </a:avLst>
          </a:prstGeom>
          <a:solidFill>
            <a:srgbClr val="2D6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9599" y="2286000"/>
            <a:ext cx="935566" cy="4191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1 · Referral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41500" y="2755900"/>
            <a:ext cx="1011766" cy="1333500"/>
          </a:xfrm>
          <a:prstGeom prst="roundRect">
            <a:avLst>
              <a:gd name="adj" fmla="val 6276"/>
            </a:avLst>
          </a:prstGeom>
          <a:solidFill>
            <a:srgbClr val="DC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17700" y="2755900"/>
            <a:ext cx="859366" cy="13335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42433"/>
                </a:solidFill>
                <a:latin typeface="Inter"/>
              </a:rPr>
              <a:t>Capture enquiry + audit trail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41500" y="4140200"/>
            <a:ext cx="1011766" cy="749300"/>
          </a:xfrm>
          <a:prstGeom prst="roundRect">
            <a:avLst>
              <a:gd name="adj" fmla="val 8474"/>
            </a:avLst>
          </a:prstGeom>
          <a:solidFill>
            <a:srgbClr val="DC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05000" y="4140200"/>
            <a:ext cx="884766" cy="7493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Clinician web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9466" y="2286000"/>
            <a:ext cx="1011766" cy="419100"/>
          </a:xfrm>
          <a:prstGeom prst="roundRect">
            <a:avLst>
              <a:gd name="adj" fmla="val 15151"/>
            </a:avLst>
          </a:prstGeom>
          <a:solidFill>
            <a:srgbClr val="3569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7566" y="2286000"/>
            <a:ext cx="935566" cy="4191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2 · Smart intake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9466" y="2755900"/>
            <a:ext cx="1011766" cy="1333500"/>
          </a:xfrm>
          <a:prstGeom prst="roundRect">
            <a:avLst>
              <a:gd name="adj" fmla="val 6276"/>
            </a:avLst>
          </a:prstGeom>
          <a:solidFill>
            <a:srgbClr val="DC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05666" y="2755900"/>
            <a:ext cx="859366" cy="13335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42433"/>
                </a:solidFill>
                <a:latin typeface="Inter"/>
              </a:rPr>
              <a:t>Adaptive intake + status + consent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9466" y="4140200"/>
            <a:ext cx="1011766" cy="749300"/>
          </a:xfrm>
          <a:prstGeom prst="roundRect">
            <a:avLst>
              <a:gd name="adj" fmla="val 8474"/>
            </a:avLst>
          </a:prstGeom>
          <a:solidFill>
            <a:srgbClr val="DC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2966" y="4140200"/>
            <a:ext cx="884766" cy="7493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Family / client app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17433" y="2286000"/>
            <a:ext cx="1011766" cy="419100"/>
          </a:xfrm>
          <a:prstGeom prst="roundRect">
            <a:avLst>
              <a:gd name="adj" fmla="val 15151"/>
            </a:avLst>
          </a:prstGeom>
          <a:solidFill>
            <a:srgbClr val="3569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55533" y="2286000"/>
            <a:ext cx="935566" cy="4191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3 · Intake review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17433" y="2755900"/>
            <a:ext cx="1011766" cy="1333500"/>
          </a:xfrm>
          <a:prstGeom prst="roundRect">
            <a:avLst>
              <a:gd name="adj" fmla="val 6276"/>
            </a:avLst>
          </a:prstGeom>
          <a:solidFill>
            <a:srgbClr val="DC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93633" y="2755900"/>
            <a:ext cx="859366" cy="13335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42433"/>
                </a:solidFill>
                <a:latin typeface="Inter"/>
              </a:rPr>
              <a:t>One-screen client overview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17433" y="4140200"/>
            <a:ext cx="1011766" cy="749300"/>
          </a:xfrm>
          <a:prstGeom prst="roundRect">
            <a:avLst>
              <a:gd name="adj" fmla="val 8474"/>
            </a:avLst>
          </a:prstGeom>
          <a:solidFill>
            <a:srgbClr val="DC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80933" y="4140200"/>
            <a:ext cx="884766" cy="7493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Clinician web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05400" y="2286000"/>
            <a:ext cx="1011766" cy="419100"/>
          </a:xfrm>
          <a:prstGeom prst="roundRect">
            <a:avLst>
              <a:gd name="adj" fmla="val 15151"/>
            </a:avLst>
          </a:prstGeom>
          <a:solidFill>
            <a:srgbClr val="C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43500" y="2286000"/>
            <a:ext cx="935566" cy="4191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4 · Consult prep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05400" y="2755900"/>
            <a:ext cx="1011766" cy="1333500"/>
          </a:xfrm>
          <a:prstGeom prst="roundRect">
            <a:avLst>
              <a:gd name="adj" fmla="val 6276"/>
            </a:avLst>
          </a:prstGeom>
          <a:solidFill>
            <a:srgbClr val="F6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81600" y="2755900"/>
            <a:ext cx="859366" cy="13335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42433"/>
                </a:solidFill>
                <a:latin typeface="Inter"/>
              </a:rPr>
              <a:t>AI prep brief (DRAFT)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05400" y="4140200"/>
            <a:ext cx="1011766" cy="749300"/>
          </a:xfrm>
          <a:prstGeom prst="roundRect">
            <a:avLst>
              <a:gd name="adj" fmla="val 8474"/>
            </a:avLst>
          </a:prstGeom>
          <a:solidFill>
            <a:srgbClr val="F6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68900" y="4140200"/>
            <a:ext cx="884766" cy="7493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Clinician web + AI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3366" y="2286000"/>
            <a:ext cx="1011766" cy="419100"/>
          </a:xfrm>
          <a:prstGeom prst="roundRect">
            <a:avLst>
              <a:gd name="adj" fmla="val 15151"/>
            </a:avLst>
          </a:prstGeom>
          <a:solidFill>
            <a:srgbClr val="C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31466" y="2286000"/>
            <a:ext cx="935566" cy="4191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5 · Consultation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3366" y="2755900"/>
            <a:ext cx="1011766" cy="1333500"/>
          </a:xfrm>
          <a:prstGeom prst="roundRect">
            <a:avLst>
              <a:gd name="adj" fmla="val 6276"/>
            </a:avLst>
          </a:prstGeom>
          <a:solidFill>
            <a:srgbClr val="F6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9566" y="2755900"/>
            <a:ext cx="859366" cy="13335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42433"/>
                </a:solidFill>
                <a:latin typeface="Inter"/>
              </a:rPr>
              <a:t>Schedule consult + calendar / video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3366" y="4140200"/>
            <a:ext cx="1011766" cy="749300"/>
          </a:xfrm>
          <a:prstGeom prst="roundRect">
            <a:avLst>
              <a:gd name="adj" fmla="val 8474"/>
            </a:avLst>
          </a:prstGeom>
          <a:solidFill>
            <a:srgbClr val="F6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56866" y="4140200"/>
            <a:ext cx="884766" cy="7493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Clinician web + calendar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81333" y="2286000"/>
            <a:ext cx="1011766" cy="419100"/>
          </a:xfrm>
          <a:prstGeom prst="roundRect">
            <a:avLst>
              <a:gd name="adj" fmla="val 15151"/>
            </a:avLst>
          </a:prstGeom>
          <a:solidFill>
            <a:srgbClr val="C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9433" y="2286000"/>
            <a:ext cx="935566" cy="4191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6 · Triage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81333" y="2755900"/>
            <a:ext cx="1011766" cy="1333500"/>
          </a:xfrm>
          <a:prstGeom prst="roundRect">
            <a:avLst>
              <a:gd name="adj" fmla="val 6276"/>
            </a:avLst>
          </a:prstGeom>
          <a:solidFill>
            <a:srgbClr val="F6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57533" y="2755900"/>
            <a:ext cx="859366" cy="13335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42433"/>
                </a:solidFill>
                <a:latin typeface="Inter"/>
              </a:rPr>
              <a:t>Capture triage + rationale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81333" y="4140200"/>
            <a:ext cx="1011766" cy="749300"/>
          </a:xfrm>
          <a:prstGeom prst="roundRect">
            <a:avLst>
              <a:gd name="adj" fmla="val 8474"/>
            </a:avLst>
          </a:prstGeom>
          <a:solidFill>
            <a:srgbClr val="F6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44833" y="4140200"/>
            <a:ext cx="884766" cy="7493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Clinician web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69300" y="2286000"/>
            <a:ext cx="1011766" cy="419100"/>
          </a:xfrm>
          <a:prstGeom prst="roundRect">
            <a:avLst>
              <a:gd name="adj" fmla="val 15151"/>
            </a:avLst>
          </a:prstGeom>
          <a:solidFill>
            <a:srgbClr val="6E5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07400" y="2286000"/>
            <a:ext cx="935566" cy="4191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7 · Session plan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369300" y="2755900"/>
            <a:ext cx="1011766" cy="1333500"/>
          </a:xfrm>
          <a:prstGeom prst="roundRect">
            <a:avLst>
              <a:gd name="adj" fmla="val 6276"/>
            </a:avLst>
          </a:prstGeom>
          <a:solidFill>
            <a:srgbClr val="E8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45500" y="2755900"/>
            <a:ext cx="859366" cy="13335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42433"/>
                </a:solidFill>
                <a:latin typeface="Inter"/>
              </a:rPr>
              <a:t>AI session plan (DRAFT)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69300" y="4140200"/>
            <a:ext cx="1011766" cy="749300"/>
          </a:xfrm>
          <a:prstGeom prst="roundRect">
            <a:avLst>
              <a:gd name="adj" fmla="val 8474"/>
            </a:avLst>
          </a:prstGeom>
          <a:solidFill>
            <a:srgbClr val="E8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32800" y="4140200"/>
            <a:ext cx="884766" cy="7493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Clinician web + AI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457266" y="2286000"/>
            <a:ext cx="1011766" cy="419100"/>
          </a:xfrm>
          <a:prstGeom prst="roundRect">
            <a:avLst>
              <a:gd name="adj" fmla="val 15151"/>
            </a:avLst>
          </a:prstGeom>
          <a:solidFill>
            <a:srgbClr val="6E5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95366" y="2286000"/>
            <a:ext cx="935566" cy="4191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8 · Family summary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457266" y="2755900"/>
            <a:ext cx="1011766" cy="1333500"/>
          </a:xfrm>
          <a:prstGeom prst="roundRect">
            <a:avLst>
              <a:gd name="adj" fmla="val 6276"/>
            </a:avLst>
          </a:prstGeom>
          <a:solidFill>
            <a:srgbClr val="E8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33466" y="2755900"/>
            <a:ext cx="859366" cy="13335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42433"/>
                </a:solidFill>
                <a:latin typeface="Inter"/>
              </a:rPr>
              <a:t>Tone-adjusted client summary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457266" y="4140200"/>
            <a:ext cx="1011766" cy="749300"/>
          </a:xfrm>
          <a:prstGeom prst="roundRect">
            <a:avLst>
              <a:gd name="adj" fmla="val 8474"/>
            </a:avLst>
          </a:prstGeom>
          <a:solidFill>
            <a:srgbClr val="E8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520766" y="4140200"/>
            <a:ext cx="884766" cy="7493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Client app + AI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545233" y="2286000"/>
            <a:ext cx="1011766" cy="419100"/>
          </a:xfrm>
          <a:prstGeom prst="roundRect">
            <a:avLst>
              <a:gd name="adj" fmla="val 15151"/>
            </a:avLst>
          </a:prstGeom>
          <a:solidFill>
            <a:srgbClr val="4C8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583333" y="2286000"/>
            <a:ext cx="935566" cy="4191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9 · Carryover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545233" y="2755900"/>
            <a:ext cx="1011766" cy="1333500"/>
          </a:xfrm>
          <a:prstGeom prst="roundRect">
            <a:avLst>
              <a:gd name="adj" fmla="val 6276"/>
            </a:avLst>
          </a:prstGeom>
          <a:solidFill>
            <a:srgbClr val="DCE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621433" y="2755900"/>
            <a:ext cx="859366" cy="13335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42433"/>
                </a:solidFill>
                <a:latin typeface="Inter"/>
              </a:rPr>
              <a:t>Resources + progress portal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545233" y="4140200"/>
            <a:ext cx="1011766" cy="749300"/>
          </a:xfrm>
          <a:prstGeom prst="roundRect">
            <a:avLst>
              <a:gd name="adj" fmla="val 8474"/>
            </a:avLst>
          </a:prstGeom>
          <a:solidFill>
            <a:srgbClr val="DCE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608733" y="4140200"/>
            <a:ext cx="884766" cy="7493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Client app + web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5000" y="5080000"/>
            <a:ext cx="5715000" cy="1905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597A4"/>
                </a:solidFill>
                <a:latin typeface="Inter"/>
              </a:rPr>
              <a:t>WHERE SONA WINS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5000" y="5308600"/>
            <a:ext cx="2635250" cy="609600"/>
          </a:xfrm>
          <a:prstGeom prst="roundRect">
            <a:avLst>
              <a:gd name="adj" fmla="val 12500"/>
            </a:avLst>
          </a:prstGeom>
          <a:solidFill>
            <a:srgbClr val="E6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9300" y="5308600"/>
            <a:ext cx="2406650" cy="609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D6A6E"/>
                </a:solidFill>
                <a:latin typeface="Inter"/>
              </a:rPr>
              <a:t>Own the first 30 days as one loop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397250" y="5308600"/>
            <a:ext cx="2635250" cy="609600"/>
          </a:xfrm>
          <a:prstGeom prst="roundRect">
            <a:avLst>
              <a:gd name="adj" fmla="val 12500"/>
            </a:avLst>
          </a:prstGeom>
          <a:solidFill>
            <a:srgbClr val="E6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511550" y="5308600"/>
            <a:ext cx="2406650" cy="609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D6A6E"/>
                </a:solidFill>
                <a:latin typeface="Inter"/>
              </a:rPr>
              <a:t>Trust is the moat — clinician signs every draft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159500" y="5308600"/>
            <a:ext cx="2635250" cy="609600"/>
          </a:xfrm>
          <a:prstGeom prst="roundRect">
            <a:avLst>
              <a:gd name="adj" fmla="val 12500"/>
            </a:avLst>
          </a:prstGeom>
          <a:solidFill>
            <a:srgbClr val="E6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73800" y="5308600"/>
            <a:ext cx="2406650" cy="609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D6A6E"/>
                </a:solidFill>
                <a:latin typeface="Inter"/>
              </a:rPr>
              <a:t>Start paediatric, then generalise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921750" y="5308600"/>
            <a:ext cx="2635250" cy="609600"/>
          </a:xfrm>
          <a:prstGeom prst="roundRect">
            <a:avLst>
              <a:gd name="adj" fmla="val 12500"/>
            </a:avLst>
          </a:prstGeom>
          <a:solidFill>
            <a:srgbClr val="E6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036050" y="5308600"/>
            <a:ext cx="2406650" cy="609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D6A6E"/>
                </a:solidFill>
                <a:latin typeface="Inter"/>
              </a:rPr>
              <a:t>UK data residency + clinical audit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5000" y="6070600"/>
            <a:ext cx="10922000" cy="1905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597A4"/>
                </a:solidFill>
                <a:latin typeface="Inter"/>
              </a:rPr>
              <a:t>Colour groups the nine stages into their five phases.   ·   Generalized across SLTs (Pediatric &amp; Adult).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5000" y="6642100"/>
            <a:ext cx="5715000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597A4"/>
                </a:solidFill>
                <a:latin typeface="Inter"/>
              </a:rPr>
              <a:t>Sona — Care Journey &amp; Product Overview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287000" y="6642100"/>
            <a:ext cx="1270000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597A4"/>
                </a:solidFill>
                <a:latin typeface="Inter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406400"/>
            <a:ext cx="5715000" cy="20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597A4"/>
                </a:solidFill>
                <a:latin typeface="Inter"/>
              </a:rPr>
              <a:t>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635000"/>
            <a:ext cx="9525000" cy="50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2D6A6E"/>
                </a:solidFill>
                <a:latin typeface="Inter"/>
              </a:rPr>
              <a:t>How the journey runs with Sona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270000"/>
            <a:ext cx="10922000" cy="254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A5B6B"/>
                </a:solidFill>
                <a:latin typeface="Inter"/>
              </a:rPr>
              <a:t>A swimlane map of the proposed (To-Be) process — the basis for prototypes and screens.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500" y="1752600"/>
            <a:ext cx="98425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000" y="1752600"/>
            <a:ext cx="1079500" cy="1143000"/>
          </a:xfrm>
          <a:prstGeom prst="rect">
            <a:avLst/>
          </a:prstGeom>
          <a:solidFill>
            <a:srgbClr val="C9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16200000">
            <a:off x="635000" y="1752600"/>
            <a:ext cx="10795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Client / Parent / Carer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714500" y="2895600"/>
            <a:ext cx="9842500" cy="1143000"/>
          </a:xfrm>
          <a:prstGeom prst="rect">
            <a:avLst/>
          </a:prstGeom>
          <a:solidFill>
            <a:srgbClr val="F3F6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000" y="2895600"/>
            <a:ext cx="1079500" cy="1143000"/>
          </a:xfrm>
          <a:prstGeom prst="rect">
            <a:avLst/>
          </a:prstGeom>
          <a:solidFill>
            <a:srgbClr val="2D6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16200000">
            <a:off x="635000" y="2895600"/>
            <a:ext cx="10795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Clinician / SLT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14500" y="4038600"/>
            <a:ext cx="98425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038600"/>
            <a:ext cx="1079500" cy="1143000"/>
          </a:xfrm>
          <a:prstGeom prst="rect">
            <a:avLst/>
          </a:prstGeom>
          <a:solidFill>
            <a:srgbClr val="3569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635000" y="4038600"/>
            <a:ext cx="10795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Sona  (app &amp; AI)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14500" y="5181600"/>
            <a:ext cx="9842500" cy="1143000"/>
          </a:xfrm>
          <a:prstGeom prst="rect">
            <a:avLst/>
          </a:prstGeom>
          <a:solidFill>
            <a:srgbClr val="F3F6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181600"/>
            <a:ext cx="1079500" cy="1143000"/>
          </a:xfrm>
          <a:prstGeom prst="rect">
            <a:avLst/>
          </a:prstGeom>
          <a:solidFill>
            <a:srgbClr val="4C8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 rot="16200000">
            <a:off x="635000" y="5181600"/>
            <a:ext cx="10795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External  (calendar · PMS)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36700" y="2063750"/>
            <a:ext cx="1117600" cy="520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8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063750"/>
            <a:ext cx="990599" cy="5207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42433"/>
                </a:solidFill>
                <a:latin typeface="Inter"/>
              </a:rPr>
              <a:t>Enquiry arrives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09250" y="2063750"/>
            <a:ext cx="1079500" cy="520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8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72750" y="2063750"/>
            <a:ext cx="952500" cy="5207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42433"/>
                </a:solidFill>
                <a:latin typeface="Inter"/>
              </a:rPr>
              <a:t>Ongoing care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30500" y="2082800"/>
            <a:ext cx="1092200" cy="482600"/>
          </a:xfrm>
          <a:prstGeom prst="roundRect">
            <a:avLst>
              <a:gd name="adj" fmla="val 15789"/>
            </a:avLst>
          </a:prstGeom>
          <a:solidFill>
            <a:srgbClr val="E6F0F0"/>
          </a:solidFill>
          <a:ln w="12700">
            <a:solidFill>
              <a:srgbClr val="2D6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94000" y="2082800"/>
            <a:ext cx="965200" cy="482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Complete intake &amp; consent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34500" y="2082800"/>
            <a:ext cx="1092200" cy="482600"/>
          </a:xfrm>
          <a:prstGeom prst="roundRect">
            <a:avLst>
              <a:gd name="adj" fmla="val 15789"/>
            </a:avLst>
          </a:prstGeom>
          <a:solidFill>
            <a:srgbClr val="E6F0F0"/>
          </a:solidFill>
          <a:ln w="12700">
            <a:solidFill>
              <a:srgbClr val="2D6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8000" y="2082800"/>
            <a:ext cx="965200" cy="482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Receive summary (app)</a:t>
            </a:r>
          </a:p>
        </p:txBody>
      </p:sp>
      <p:sp>
        <p:nvSpPr>
          <p:cNvPr id="26" name="Diamond 25"/>
          <p:cNvSpPr/>
          <p:nvPr/>
        </p:nvSpPr>
        <p:spPr>
          <a:xfrm>
            <a:off x="5880100" y="3124200"/>
            <a:ext cx="1193800" cy="685800"/>
          </a:xfrm>
          <a:prstGeom prst="diamond">
            <a:avLst/>
          </a:prstGeom>
          <a:solidFill>
            <a:srgbClr val="FFF0E6"/>
          </a:solidFill>
          <a:ln w="19050">
            <a:solidFill>
              <a:srgbClr val="C45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>
            <a:normAutofit/>
          </a:bodyPr>
          <a:lstStyle/>
          <a:p>
            <a:pPr algn="ctr"/>
            <a:r>
              <a:rPr sz="1100" b="1">
                <a:solidFill>
                  <a:srgbClr val="142433"/>
                </a:solidFill>
                <a:latin typeface="Inter"/>
              </a:rPr>
              <a:t>Ongoing therapy?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21100" y="3225800"/>
            <a:ext cx="1092200" cy="482600"/>
          </a:xfrm>
          <a:prstGeom prst="roundRect">
            <a:avLst>
              <a:gd name="adj" fmla="val 15789"/>
            </a:avLst>
          </a:prstGeom>
          <a:solidFill>
            <a:srgbClr val="E6F0F0"/>
          </a:solidFill>
          <a:ln w="12700">
            <a:solidFill>
              <a:srgbClr val="2D6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84600" y="3225800"/>
            <a:ext cx="965200" cy="482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Review overview + prep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76800" y="3225800"/>
            <a:ext cx="1092200" cy="482600"/>
          </a:xfrm>
          <a:prstGeom prst="roundRect">
            <a:avLst>
              <a:gd name="adj" fmla="val 15789"/>
            </a:avLst>
          </a:prstGeom>
          <a:solidFill>
            <a:srgbClr val="E6F0F0"/>
          </a:solidFill>
          <a:ln w="12700">
            <a:solidFill>
              <a:srgbClr val="2D6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40300" y="3225800"/>
            <a:ext cx="965200" cy="482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Consultation (~20 min)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27900" y="3225800"/>
            <a:ext cx="1092200" cy="482600"/>
          </a:xfrm>
          <a:prstGeom prst="roundRect">
            <a:avLst>
              <a:gd name="adj" fmla="val 15789"/>
            </a:avLst>
          </a:prstGeom>
          <a:solidFill>
            <a:srgbClr val="E6F0F0"/>
          </a:solidFill>
          <a:ln w="12700">
            <a:solidFill>
              <a:srgbClr val="2D6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91400" y="3225800"/>
            <a:ext cx="965200" cy="482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Strategy advice &amp; home tips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74100" y="3225800"/>
            <a:ext cx="1092200" cy="482600"/>
          </a:xfrm>
          <a:prstGeom prst="roundRect">
            <a:avLst>
              <a:gd name="adj" fmla="val 15789"/>
            </a:avLst>
          </a:prstGeom>
          <a:solidFill>
            <a:srgbClr val="E6F0F0"/>
          </a:solidFill>
          <a:ln w="12700">
            <a:solidFill>
              <a:srgbClr val="2D6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37600" y="3225800"/>
            <a:ext cx="965200" cy="482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Edit &amp; sign plan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93300" y="3225800"/>
            <a:ext cx="1092200" cy="482600"/>
          </a:xfrm>
          <a:prstGeom prst="roundRect">
            <a:avLst>
              <a:gd name="adj" fmla="val 15789"/>
            </a:avLst>
          </a:prstGeom>
          <a:solidFill>
            <a:srgbClr val="E6F0F0"/>
          </a:solidFill>
          <a:ln w="12700">
            <a:solidFill>
              <a:srgbClr val="2D6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56800" y="3225800"/>
            <a:ext cx="965200" cy="482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Review &amp; send summary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36700" y="4368800"/>
            <a:ext cx="1117600" cy="482600"/>
          </a:xfrm>
          <a:prstGeom prst="roundRect">
            <a:avLst>
              <a:gd name="adj" fmla="val 15789"/>
            </a:avLst>
          </a:prstGeom>
          <a:solidFill>
            <a:srgbClr val="E6F0F0"/>
          </a:solidFill>
          <a:ln w="12700">
            <a:solidFill>
              <a:srgbClr val="2D6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00200" y="4368800"/>
            <a:ext cx="990599" cy="482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Capture enquiry + smart intake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82900" y="4368800"/>
            <a:ext cx="1092200" cy="482600"/>
          </a:xfrm>
          <a:prstGeom prst="roundRect">
            <a:avLst>
              <a:gd name="adj" fmla="val 15789"/>
            </a:avLst>
          </a:prstGeom>
          <a:solidFill>
            <a:srgbClr val="E6F0F0"/>
          </a:solidFill>
          <a:ln w="12700">
            <a:solidFill>
              <a:srgbClr val="2D6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46400" y="4368800"/>
            <a:ext cx="965200" cy="482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AI prep brief (DRAFT)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8500" y="4368800"/>
            <a:ext cx="1092200" cy="482600"/>
          </a:xfrm>
          <a:prstGeom prst="roundRect">
            <a:avLst>
              <a:gd name="adj" fmla="val 15789"/>
            </a:avLst>
          </a:prstGeom>
          <a:solidFill>
            <a:srgbClr val="E6F0F0"/>
          </a:solidFill>
          <a:ln w="12700">
            <a:solidFill>
              <a:srgbClr val="2D6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12000" y="4368800"/>
            <a:ext cx="965200" cy="482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AI session plan (DRAFT)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74100" y="4368800"/>
            <a:ext cx="1092200" cy="482600"/>
          </a:xfrm>
          <a:prstGeom prst="roundRect">
            <a:avLst>
              <a:gd name="adj" fmla="val 15789"/>
            </a:avLst>
          </a:prstGeom>
          <a:solidFill>
            <a:srgbClr val="E6F0F0"/>
          </a:solidFill>
          <a:ln w="12700">
            <a:solidFill>
              <a:srgbClr val="2D6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7600" y="4368800"/>
            <a:ext cx="965200" cy="482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AI family summary (DRAFT)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0" y="4368800"/>
            <a:ext cx="1092200" cy="482600"/>
          </a:xfrm>
          <a:prstGeom prst="roundRect">
            <a:avLst>
              <a:gd name="adj" fmla="val 15789"/>
            </a:avLst>
          </a:prstGeom>
          <a:solidFill>
            <a:srgbClr val="E6F0F0"/>
          </a:solidFill>
          <a:ln w="12700">
            <a:solidFill>
              <a:srgbClr val="2D6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21900" y="4368800"/>
            <a:ext cx="965200" cy="482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Carryover + progress portal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43400" y="5511800"/>
            <a:ext cx="1092200" cy="482600"/>
          </a:xfrm>
          <a:prstGeom prst="roundRect">
            <a:avLst>
              <a:gd name="adj" fmla="val 15789"/>
            </a:avLst>
          </a:prstGeom>
          <a:solidFill>
            <a:srgbClr val="E6F0F0"/>
          </a:solidFill>
          <a:ln w="12700">
            <a:solidFill>
              <a:srgbClr val="2D6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06900" y="5511800"/>
            <a:ext cx="965200" cy="482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Calendar / video link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58400" y="5511800"/>
            <a:ext cx="1092200" cy="482600"/>
          </a:xfrm>
          <a:prstGeom prst="roundRect">
            <a:avLst>
              <a:gd name="adj" fmla="val 15789"/>
            </a:avLst>
          </a:prstGeom>
          <a:solidFill>
            <a:srgbClr val="E6F0F0"/>
          </a:solidFill>
          <a:ln w="12700">
            <a:solidFill>
              <a:srgbClr val="2D6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21900" y="5511800"/>
            <a:ext cx="965200" cy="482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433"/>
                </a:solidFill>
                <a:latin typeface="Inter"/>
              </a:rPr>
              <a:t>PMS sync (vision)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95499" y="2584450"/>
            <a:ext cx="0" cy="1784350"/>
          </a:xfrm>
          <a:prstGeom prst="bentConnector3">
            <a:avLst/>
          </a:prstGeom>
          <a:ln w="19050">
            <a:solidFill>
              <a:srgbClr val="9AA7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095499" y="2565400"/>
            <a:ext cx="1181101" cy="1803400"/>
          </a:xfrm>
          <a:prstGeom prst="bentConnector3">
            <a:avLst/>
          </a:prstGeom>
          <a:ln w="19050">
            <a:solidFill>
              <a:srgbClr val="9AA7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76600" y="2565400"/>
            <a:ext cx="152400" cy="1803400"/>
          </a:xfrm>
          <a:prstGeom prst="bentConnector3">
            <a:avLst/>
          </a:prstGeom>
          <a:ln w="19050">
            <a:solidFill>
              <a:srgbClr val="9AA7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429000" y="3708400"/>
            <a:ext cx="838200" cy="660400"/>
          </a:xfrm>
          <a:prstGeom prst="bentConnector3">
            <a:avLst/>
          </a:prstGeom>
          <a:ln w="19050">
            <a:solidFill>
              <a:srgbClr val="9AA7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889500" y="3708400"/>
            <a:ext cx="533400" cy="1803400"/>
          </a:xfrm>
          <a:prstGeom prst="bentConnector3">
            <a:avLst/>
          </a:prstGeom>
          <a:ln w="19050">
            <a:solidFill>
              <a:srgbClr val="9AA7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813300" y="3467100"/>
            <a:ext cx="63500" cy="0"/>
          </a:xfrm>
          <a:prstGeom prst="bentConnector3">
            <a:avLst/>
          </a:prstGeom>
          <a:ln w="19050">
            <a:solidFill>
              <a:srgbClr val="9AA7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5880100" y="3467100"/>
            <a:ext cx="88900" cy="0"/>
          </a:xfrm>
          <a:prstGeom prst="bentConnector3">
            <a:avLst/>
          </a:prstGeom>
          <a:ln w="19050">
            <a:solidFill>
              <a:srgbClr val="9AA7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477000" y="3810000"/>
            <a:ext cx="1117600" cy="558800"/>
          </a:xfrm>
          <a:prstGeom prst="bentConnector3">
            <a:avLst/>
          </a:prstGeom>
          <a:ln w="19050">
            <a:solidFill>
              <a:srgbClr val="9AA7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832600" y="3937000"/>
            <a:ext cx="406400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4A5B6B"/>
                </a:solidFill>
                <a:latin typeface="Inter"/>
              </a:rPr>
              <a:t>Yes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073900" y="3467100"/>
            <a:ext cx="254000" cy="0"/>
          </a:xfrm>
          <a:prstGeom prst="bentConnector3">
            <a:avLst/>
          </a:prstGeom>
          <a:ln w="19050">
            <a:solidFill>
              <a:srgbClr val="9AA7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997700" y="3314700"/>
            <a:ext cx="406400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4A5B6B"/>
                </a:solidFill>
                <a:latin typeface="Inter"/>
              </a:rPr>
              <a:t>No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8140700" y="3467100"/>
            <a:ext cx="533400" cy="1143000"/>
          </a:xfrm>
          <a:prstGeom prst="bentConnector3">
            <a:avLst/>
          </a:prstGeom>
          <a:ln w="19050">
            <a:solidFill>
              <a:srgbClr val="9AA7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220200" y="3708400"/>
            <a:ext cx="0" cy="660400"/>
          </a:xfrm>
          <a:prstGeom prst="bentConnector3">
            <a:avLst/>
          </a:prstGeom>
          <a:ln w="19050">
            <a:solidFill>
              <a:srgbClr val="9AA7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420100" y="3467100"/>
            <a:ext cx="254000" cy="1143000"/>
          </a:xfrm>
          <a:prstGeom prst="bentConnector3">
            <a:avLst/>
          </a:prstGeom>
          <a:ln w="19050">
            <a:solidFill>
              <a:srgbClr val="9AA7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766300" y="3467100"/>
            <a:ext cx="127000" cy="1143000"/>
          </a:xfrm>
          <a:prstGeom prst="bentConnector3">
            <a:avLst/>
          </a:prstGeom>
          <a:ln w="19050">
            <a:solidFill>
              <a:srgbClr val="9AA7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9880600" y="2565400"/>
            <a:ext cx="558800" cy="660400"/>
          </a:xfrm>
          <a:prstGeom prst="bentConnector3">
            <a:avLst/>
          </a:prstGeom>
          <a:ln w="19050">
            <a:solidFill>
              <a:srgbClr val="9AA7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439400" y="3708400"/>
            <a:ext cx="165100" cy="660400"/>
          </a:xfrm>
          <a:prstGeom prst="bentConnector3">
            <a:avLst/>
          </a:prstGeom>
          <a:ln w="19050">
            <a:solidFill>
              <a:srgbClr val="9AA7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426700" y="2324100"/>
            <a:ext cx="82550" cy="0"/>
          </a:xfrm>
          <a:prstGeom prst="bentConnector3">
            <a:avLst/>
          </a:prstGeom>
          <a:ln w="19050">
            <a:solidFill>
              <a:srgbClr val="9AA7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604500" y="4851400"/>
            <a:ext cx="0" cy="660400"/>
          </a:xfrm>
          <a:prstGeom prst="bentConnector3">
            <a:avLst/>
          </a:prstGeom>
          <a:ln w="19050">
            <a:solidFill>
              <a:srgbClr val="9AA7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714500" y="6451600"/>
            <a:ext cx="10922000" cy="1905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597A4"/>
                </a:solidFill>
                <a:latin typeface="Inter"/>
              </a:rPr>
              <a:t>Shapes:  rounded = task   ·   diamond = decision   ·   pill = start / end.    DRAFT = AI artifact the clinician reviews &amp; signs.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5000" y="6642100"/>
            <a:ext cx="5715000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597A4"/>
                </a:solidFill>
                <a:latin typeface="Inter"/>
              </a:rPr>
              <a:t>Sona — Care Journey &amp; Product Overview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87000" y="6642100"/>
            <a:ext cx="1270000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597A4"/>
                </a:solidFill>
                <a:latin typeface="Inter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