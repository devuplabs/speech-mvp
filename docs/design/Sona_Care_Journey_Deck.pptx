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1500" y="469899"/>
            <a:ext cx="5715000" cy="1651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8597A4"/>
                </a:solidFill>
                <a:latin typeface="Inter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635000"/>
            <a:ext cx="11176000" cy="4445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2D6A6E"/>
                </a:solidFill>
                <a:latin typeface="Inter"/>
              </a:rPr>
              <a:t>Sona — Care Journey &amp; Product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143000"/>
            <a:ext cx="9906000" cy="508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4A5B6B"/>
                </a:solidFill>
                <a:latin typeface="Inter"/>
              </a:rPr>
              <a:t>An AI co-pilot that reduces admin burnout in UK private Speech &amp; Language Therapy (SLT) — giving clinicians more productive time for care across a client's first 30 days.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4200" y="1727200"/>
            <a:ext cx="889000" cy="31750"/>
          </a:xfrm>
          <a:prstGeom prst="roundRect">
            <a:avLst>
              <a:gd name="adj" fmla="val 40000"/>
            </a:avLst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" y="2032000"/>
            <a:ext cx="5207000" cy="17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2D6A6E"/>
                </a:solidFill>
                <a:latin typeface="Inter"/>
              </a:rPr>
              <a:t>WHAT IS SONA?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286000"/>
            <a:ext cx="5143500" cy="2794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42433"/>
                </a:solidFill>
                <a:latin typeface="Inter"/>
              </a:rPr>
              <a:t>Sona is an AI co-pilot for UK private Speech &amp; Language Therapy (SLT) practices.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900" b="0">
                <a:solidFill>
                  <a:srgbClr val="142433"/>
                </a:solidFill>
                <a:latin typeface="Inter"/>
              </a:rPr>
              <a:t>It does the repetitive admin alongside the clinician — capturing the enquiry, running a smart intake, prepping the consult, recording the triage decision, and drafting the first session plan and family summary, always as drafts for the clinician to review.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900" b="0">
                <a:solidFill>
                  <a:srgbClr val="142433"/>
                </a:solidFill>
                <a:latin typeface="Inter"/>
              </a:rPr>
              <a:t>Sona augments clinicians. Its purpose is to increase human productivity — less admin burnout, more time for care.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3300" y="2044700"/>
            <a:ext cx="12700" cy="298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8100" y="2032000"/>
            <a:ext cx="5080000" cy="17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2D6A6E"/>
                </a:solidFill>
                <a:latin typeface="Inter"/>
              </a:rPr>
              <a:t>HOW TO READ THIS 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8100" y="2286000"/>
            <a:ext cx="5080000" cy="292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42433"/>
                </a:solidFill>
                <a:latin typeface="Inter"/>
              </a:rPr>
              <a:t>•  Three views follow — the Executive view (the journey and the value), the Product view (the proposed solution), and the Process-flow view (the To-Be swimlane).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900" b="0">
                <a:solidFill>
                  <a:srgbClr val="142433"/>
                </a:solidFill>
                <a:latin typeface="Inter"/>
              </a:rPr>
              <a:t>•  Read each view left → right: the client's journey across the first ~30 days of a new case.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900" b="0">
                <a:solidFill>
                  <a:srgbClr val="142433"/>
                </a:solidFill>
                <a:latin typeface="Inter"/>
              </a:rPr>
              <a:t>•  Who's who —  client / parent / carer: the family or adult client;  clinician / SLT: the therapist;  practice: the private clinic.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" y="5664200"/>
            <a:ext cx="11049000" cy="812800"/>
          </a:xfrm>
          <a:prstGeom prst="roundRect">
            <a:avLst>
              <a:gd name="adj" fmla="val 12500"/>
            </a:avLst>
          </a:prstGeom>
          <a:solidFill>
            <a:srgbClr val="1E4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816600"/>
            <a:ext cx="3810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A9C7C7"/>
                </a:solidFill>
                <a:latin typeface="Inter"/>
              </a:rPr>
              <a:t>ANCHOR PRINCIPLES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6083300"/>
            <a:ext cx="2667000" cy="17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Inter"/>
              </a:rPr>
              <a:t>(1)   AI drafts, clinician decides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0600" y="6083300"/>
            <a:ext cx="2667000" cy="17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Inter"/>
              </a:rPr>
              <a:t>(2)   No screen time for children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6500" y="6083300"/>
            <a:ext cx="2667000" cy="17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Inter"/>
              </a:rPr>
              <a:t>(3)   UK data residency + audit by construction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53500" y="6083300"/>
            <a:ext cx="2667000" cy="17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Inter"/>
              </a:rPr>
              <a:t>(4)   Augment people, never replace them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6604000"/>
            <a:ext cx="5715000" cy="1397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>
                <a:solidFill>
                  <a:srgbClr val="8597A4"/>
                </a:solidFill>
                <a:latin typeface="Inter"/>
              </a:rPr>
              <a:t>Sona — Care Journey &amp; Product Overview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14000" y="6604000"/>
            <a:ext cx="1206500" cy="1397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0"/>
              </a:spcAft>
            </a:pPr>
            <a:r>
              <a:rPr sz="600" b="0">
                <a:solidFill>
                  <a:srgbClr val="8597A4"/>
                </a:solidFill>
                <a:latin typeface="Inter"/>
              </a:rPr>
              <a:t>1 /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1500" y="469899"/>
            <a:ext cx="5715000" cy="1651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8597A4"/>
                </a:solidFill>
                <a:latin typeface="Inter"/>
              </a:rPr>
              <a:t>EXECUTIVE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635000"/>
            <a:ext cx="10160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2D6A6E"/>
                </a:solidFill>
                <a:latin typeface="Inter"/>
              </a:rPr>
              <a:t>The care journey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066800"/>
            <a:ext cx="10287000" cy="3175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A5B6B"/>
                </a:solidFill>
                <a:latin typeface="Inter"/>
              </a:rPr>
              <a:t>How a new SLT case feels today, and where Sona reduces admin burnout and adds value — across five phases.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4200" y="1422400"/>
            <a:ext cx="889000" cy="31750"/>
          </a:xfrm>
          <a:prstGeom prst="roundRect">
            <a:avLst>
              <a:gd name="adj" fmla="val 40000"/>
            </a:avLst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1500" y="1663700"/>
            <a:ext cx="2098040" cy="419100"/>
          </a:xfrm>
          <a:prstGeom prst="roundRect">
            <a:avLst>
              <a:gd name="adj" fmla="val 18181"/>
            </a:avLst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1663700"/>
            <a:ext cx="1945640" cy="4191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"/>
              </a:rPr>
              <a:t>1 · Find &amp; enquire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9239" y="1663700"/>
            <a:ext cx="2098040" cy="419100"/>
          </a:xfrm>
          <a:prstGeom prst="roundRect">
            <a:avLst>
              <a:gd name="adj" fmla="val 18181"/>
            </a:avLst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5440" y="1663700"/>
            <a:ext cx="1945640" cy="4191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"/>
              </a:rPr>
              <a:t>2 · Understand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46979" y="1663700"/>
            <a:ext cx="2098040" cy="419100"/>
          </a:xfrm>
          <a:prstGeom prst="roundRect">
            <a:avLst>
              <a:gd name="adj" fmla="val 18181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3180" y="1663700"/>
            <a:ext cx="1945640" cy="4191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"/>
              </a:rPr>
              <a:t>3 · Meet &amp; decide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4719" y="1663700"/>
            <a:ext cx="2098040" cy="419100"/>
          </a:xfrm>
          <a:prstGeom prst="roundRect">
            <a:avLst>
              <a:gd name="adj" fmla="val 18181"/>
            </a:avLst>
          </a:prstGeom>
          <a:solidFill>
            <a:srgbClr val="6E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19" y="1663700"/>
            <a:ext cx="1945640" cy="4191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"/>
              </a:rPr>
              <a:t>4 · Plan &amp; share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2459" y="1663700"/>
            <a:ext cx="2098040" cy="419100"/>
          </a:xfrm>
          <a:prstGeom prst="roundRect">
            <a:avLst>
              <a:gd name="adj" fmla="val 18181"/>
            </a:avLst>
          </a:prstGeom>
          <a:solidFill>
            <a:srgbClr val="4C8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98660" y="1663700"/>
            <a:ext cx="1945640" cy="4191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"/>
              </a:rPr>
              <a:t>5 · Progress 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" y="2286000"/>
            <a:ext cx="5715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8597A4"/>
                </a:solidFill>
                <a:latin typeface="Inter"/>
              </a:rPr>
              <a:t>SENTIMENT · FAMILY + CLINICIAN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620520" y="3202940"/>
            <a:ext cx="2237739" cy="91439"/>
          </a:xfrm>
          <a:prstGeom prst="line">
            <a:avLst/>
          </a:prstGeom>
          <a:ln w="19050">
            <a:solidFill>
              <a:srgbClr val="2D6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858259" y="2959100"/>
            <a:ext cx="2237741" cy="335279"/>
          </a:xfrm>
          <a:prstGeom prst="line">
            <a:avLst/>
          </a:prstGeom>
          <a:ln w="19050">
            <a:solidFill>
              <a:srgbClr val="2D6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096000" y="2745740"/>
            <a:ext cx="2237739" cy="213360"/>
          </a:xfrm>
          <a:prstGeom prst="line">
            <a:avLst/>
          </a:prstGeom>
          <a:ln w="19050">
            <a:solidFill>
              <a:srgbClr val="2D6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333739" y="2608580"/>
            <a:ext cx="2237740" cy="137160"/>
          </a:xfrm>
          <a:prstGeom prst="line">
            <a:avLst/>
          </a:prstGeom>
          <a:ln w="19050">
            <a:solidFill>
              <a:srgbClr val="2D6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569720" y="3152139"/>
            <a:ext cx="101600" cy="101600"/>
          </a:xfrm>
          <a:prstGeom prst="ellipse">
            <a:avLst/>
          </a:prstGeom>
          <a:solidFill>
            <a:srgbClr val="2D6A6E"/>
          </a:solidFill>
          <a:ln w="19050">
            <a:solidFill>
              <a:srgbClr val="FAF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500" y="3479800"/>
            <a:ext cx="2098040" cy="1651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2D6A6E"/>
                </a:solidFill>
                <a:latin typeface="Inter"/>
              </a:rPr>
              <a:t>Anxious</a:t>
            </a:r>
          </a:p>
        </p:txBody>
      </p:sp>
      <p:sp>
        <p:nvSpPr>
          <p:cNvPr id="24" name="Oval 23"/>
          <p:cNvSpPr/>
          <p:nvPr/>
        </p:nvSpPr>
        <p:spPr>
          <a:xfrm>
            <a:off x="3807459" y="3243580"/>
            <a:ext cx="101600" cy="101600"/>
          </a:xfrm>
          <a:prstGeom prst="ellipse">
            <a:avLst/>
          </a:prstGeom>
          <a:solidFill>
            <a:srgbClr val="2D6A6E"/>
          </a:solidFill>
          <a:ln w="19050">
            <a:solidFill>
              <a:srgbClr val="FAF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09239" y="3479800"/>
            <a:ext cx="2098040" cy="1651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2D6A6E"/>
                </a:solidFill>
                <a:latin typeface="Inter"/>
              </a:rPr>
              <a:t>Overwhelmed</a:t>
            </a:r>
          </a:p>
        </p:txBody>
      </p:sp>
      <p:sp>
        <p:nvSpPr>
          <p:cNvPr id="26" name="Oval 25"/>
          <p:cNvSpPr/>
          <p:nvPr/>
        </p:nvSpPr>
        <p:spPr>
          <a:xfrm>
            <a:off x="6045200" y="2908300"/>
            <a:ext cx="101600" cy="101600"/>
          </a:xfrm>
          <a:prstGeom prst="ellipse">
            <a:avLst/>
          </a:prstGeom>
          <a:solidFill>
            <a:srgbClr val="2D6A6E"/>
          </a:solidFill>
          <a:ln w="19050">
            <a:solidFill>
              <a:srgbClr val="FAF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6979" y="3479800"/>
            <a:ext cx="2098040" cy="1651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2D6A6E"/>
                </a:solidFill>
                <a:latin typeface="Inter"/>
              </a:rPr>
              <a:t>Hopeful</a:t>
            </a:r>
          </a:p>
        </p:txBody>
      </p:sp>
      <p:sp>
        <p:nvSpPr>
          <p:cNvPr id="28" name="Oval 27"/>
          <p:cNvSpPr/>
          <p:nvPr/>
        </p:nvSpPr>
        <p:spPr>
          <a:xfrm>
            <a:off x="8282939" y="2694939"/>
            <a:ext cx="101600" cy="101600"/>
          </a:xfrm>
          <a:prstGeom prst="ellipse">
            <a:avLst/>
          </a:prstGeom>
          <a:solidFill>
            <a:srgbClr val="2D6A6E"/>
          </a:solidFill>
          <a:ln w="19050">
            <a:solidFill>
              <a:srgbClr val="FAF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84719" y="3479800"/>
            <a:ext cx="2098040" cy="1651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2D6A6E"/>
                </a:solidFill>
                <a:latin typeface="Inter"/>
              </a:rPr>
              <a:t>Reassured</a:t>
            </a:r>
          </a:p>
        </p:txBody>
      </p:sp>
      <p:sp>
        <p:nvSpPr>
          <p:cNvPr id="30" name="Oval 29"/>
          <p:cNvSpPr/>
          <p:nvPr/>
        </p:nvSpPr>
        <p:spPr>
          <a:xfrm>
            <a:off x="10520680" y="2557780"/>
            <a:ext cx="101600" cy="101600"/>
          </a:xfrm>
          <a:prstGeom prst="ellipse">
            <a:avLst/>
          </a:prstGeom>
          <a:solidFill>
            <a:srgbClr val="2D6A6E"/>
          </a:solidFill>
          <a:ln w="19050">
            <a:solidFill>
              <a:srgbClr val="FAF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22459" y="3479800"/>
            <a:ext cx="2098040" cy="1651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2D6A6E"/>
                </a:solidFill>
                <a:latin typeface="Inter"/>
              </a:rPr>
              <a:t>Confident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00" y="3835400"/>
            <a:ext cx="5715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8597A4"/>
                </a:solidFill>
                <a:latin typeface="Inter"/>
              </a:rPr>
              <a:t>TODAY'S PAIN — BY PHASE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71500" y="4038600"/>
            <a:ext cx="2098040" cy="749300"/>
          </a:xfrm>
          <a:prstGeom prst="roundRect">
            <a:avLst>
              <a:gd name="adj" fmla="val 10169"/>
            </a:avLst>
          </a:prstGeom>
          <a:solidFill>
            <a:srgbClr val="FBF7F1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400" y="4038600"/>
            <a:ext cx="1920239" cy="7493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7A3B2E"/>
                </a:solidFill>
                <a:latin typeface="Inter"/>
              </a:rPr>
              <a:t>Enquiries slip through the cracks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809239" y="4038600"/>
            <a:ext cx="2098040" cy="749300"/>
          </a:xfrm>
          <a:prstGeom prst="roundRect">
            <a:avLst>
              <a:gd name="adj" fmla="val 10169"/>
            </a:avLst>
          </a:prstGeom>
          <a:solidFill>
            <a:srgbClr val="FBF7F1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98140" y="4038600"/>
            <a:ext cx="1920239" cy="7493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7A3B2E"/>
                </a:solidFill>
                <a:latin typeface="Inter"/>
              </a:rPr>
              <a:t>Chasing forms — everything is manual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46979" y="4038600"/>
            <a:ext cx="2098040" cy="749300"/>
          </a:xfrm>
          <a:prstGeom prst="roundRect">
            <a:avLst>
              <a:gd name="adj" fmla="val 10169"/>
            </a:avLst>
          </a:prstGeom>
          <a:solidFill>
            <a:srgbClr val="FBF7F1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35880" y="4038600"/>
            <a:ext cx="1920239" cy="7493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7A3B2E"/>
                </a:solidFill>
                <a:latin typeface="Inter"/>
              </a:rPr>
              <a:t>Prep is rushed; the free consult under-delivers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84719" y="4038600"/>
            <a:ext cx="2098040" cy="749300"/>
          </a:xfrm>
          <a:prstGeom prst="roundRect">
            <a:avLst>
              <a:gd name="adj" fmla="val 10169"/>
            </a:avLst>
          </a:prstGeom>
          <a:solidFill>
            <a:srgbClr val="FBF7F1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73619" y="4038600"/>
            <a:ext cx="1920239" cy="7493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7A3B2E"/>
                </a:solidFill>
                <a:latin typeface="Inter"/>
              </a:rPr>
              <a:t>Plans hand-built; reports take ~3 weeks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522459" y="4038600"/>
            <a:ext cx="2098040" cy="749300"/>
          </a:xfrm>
          <a:prstGeom prst="roundRect">
            <a:avLst>
              <a:gd name="adj" fmla="val 10169"/>
            </a:avLst>
          </a:prstGeom>
          <a:solidFill>
            <a:srgbClr val="FBF7F1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11360" y="4038600"/>
            <a:ext cx="1920239" cy="7493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7A3B2E"/>
                </a:solidFill>
                <a:latin typeface="Inter"/>
              </a:rPr>
              <a:t>Carryover is ad-hoc (email / WhatsApp)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1500" y="5067300"/>
            <a:ext cx="5715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8597A4"/>
                </a:solidFill>
                <a:latin typeface="Inter"/>
              </a:rPr>
              <a:t>THE PRIZE — TARGETS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84200" y="5283200"/>
            <a:ext cx="571500" cy="31750"/>
          </a:xfrm>
          <a:prstGeom prst="roundRect">
            <a:avLst>
              <a:gd name="adj" fmla="val 40000"/>
            </a:avLst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1500" y="5372100"/>
            <a:ext cx="5207000" cy="355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2D6A6E"/>
                </a:solidFill>
                <a:latin typeface="Inter"/>
              </a:rPr>
              <a:t>≥ 4 hours / month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1500" y="5791200"/>
            <a:ext cx="5207000" cy="1905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A5B6B"/>
                </a:solidFill>
                <a:latin typeface="Inter"/>
              </a:rPr>
              <a:t>productive hours given back to each clinician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62700" y="5283200"/>
            <a:ext cx="571500" cy="31750"/>
          </a:xfrm>
          <a:prstGeom prst="roundRect">
            <a:avLst>
              <a:gd name="adj" fmla="val 40000"/>
            </a:avLst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50000" y="5372100"/>
            <a:ext cx="5207000" cy="355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2D6A6E"/>
                </a:solidFill>
                <a:latin typeface="Inter"/>
              </a:rPr>
              <a:t>Same-day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0" y="5791200"/>
            <a:ext cx="5207000" cy="1905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A5B6B"/>
                </a:solidFill>
                <a:latin typeface="Inter"/>
              </a:rPr>
              <a:t>client summaries &amp; reports, vs the ~3-week manual baseline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1500" y="6604000"/>
            <a:ext cx="5715000" cy="1397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>
                <a:solidFill>
                  <a:srgbClr val="8597A4"/>
                </a:solidFill>
                <a:latin typeface="Inter"/>
              </a:rPr>
              <a:t>Sona — Care Journey &amp; Product Overview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14000" y="6604000"/>
            <a:ext cx="1206500" cy="1397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0"/>
              </a:spcAft>
            </a:pPr>
            <a:r>
              <a:rPr sz="600" b="0">
                <a:solidFill>
                  <a:srgbClr val="8597A4"/>
                </a:solidFill>
                <a:latin typeface="Inter"/>
              </a:rPr>
              <a:t>2 /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1500" y="469899"/>
            <a:ext cx="5715000" cy="1651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8597A4"/>
                </a:solidFill>
                <a:latin typeface="Inter"/>
              </a:rPr>
              <a:t>PRODUCT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635000"/>
            <a:ext cx="10160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2D6A6E"/>
                </a:solidFill>
                <a:latin typeface="Inter"/>
              </a:rPr>
              <a:t>The 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066800"/>
            <a:ext cx="10541000" cy="3175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A5B6B"/>
                </a:solidFill>
                <a:latin typeface="Inter"/>
              </a:rPr>
              <a:t>The client's first 30 days as nine stages grouped into five phases — for each stage: what Sona does, and the surface that delivers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4200" y="1422400"/>
            <a:ext cx="889000" cy="31750"/>
          </a:xfrm>
          <a:prstGeom prst="roundRect">
            <a:avLst>
              <a:gd name="adj" fmla="val 40000"/>
            </a:avLst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" y="1828800"/>
            <a:ext cx="939799" cy="3175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4A5B6B"/>
                </a:solidFill>
                <a:latin typeface="Inter"/>
              </a:rPr>
              <a:t>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197100"/>
            <a:ext cx="939799" cy="381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4A5B6B"/>
                </a:solidFill>
                <a:latin typeface="Inter"/>
              </a:rPr>
              <a:t>Stage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2628900"/>
            <a:ext cx="939799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4A5B6B"/>
                </a:solidFill>
                <a:latin typeface="Inter"/>
              </a:rPr>
              <a:t>What Sona 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3822700"/>
            <a:ext cx="939799" cy="762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4A5B6B"/>
                </a:solidFill>
                <a:latin typeface="Inter"/>
              </a:rPr>
              <a:t>Surface / owner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87500" y="1828800"/>
            <a:ext cx="1058333" cy="317500"/>
          </a:xfrm>
          <a:prstGeom prst="roundRect">
            <a:avLst>
              <a:gd name="adj" fmla="val 20000"/>
            </a:avLst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63700" y="1828800"/>
            <a:ext cx="905933" cy="3175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Find &amp; enquire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9333" y="1828800"/>
            <a:ext cx="2180166" cy="317500"/>
          </a:xfrm>
          <a:prstGeom prst="roundRect">
            <a:avLst>
              <a:gd name="adj" fmla="val 20000"/>
            </a:avLst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5533" y="1828800"/>
            <a:ext cx="2027766" cy="3175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Understand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53000" y="1828800"/>
            <a:ext cx="3302000" cy="317500"/>
          </a:xfrm>
          <a:prstGeom prst="roundRect">
            <a:avLst>
              <a:gd name="adj" fmla="val 20000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828800"/>
            <a:ext cx="3149600" cy="3175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Meet &amp; decide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18499" y="1828800"/>
            <a:ext cx="2180166" cy="317500"/>
          </a:xfrm>
          <a:prstGeom prst="roundRect">
            <a:avLst>
              <a:gd name="adj" fmla="val 20000"/>
            </a:avLst>
          </a:prstGeom>
          <a:solidFill>
            <a:srgbClr val="6E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700" y="1828800"/>
            <a:ext cx="2027766" cy="3175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Plan &amp; share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62166" y="1828800"/>
            <a:ext cx="1058333" cy="317500"/>
          </a:xfrm>
          <a:prstGeom prst="roundRect">
            <a:avLst>
              <a:gd name="adj" fmla="val 20000"/>
            </a:avLst>
          </a:prstGeom>
          <a:solidFill>
            <a:srgbClr val="4C8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38366" y="1828800"/>
            <a:ext cx="905933" cy="3175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Progress together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87500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5600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1 · Referral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87500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DC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63700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Capture every enquiry — one case record + audit trail.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87500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DC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63700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Clinician web — enquiry queue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09333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7433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2 · Smart intake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09333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DC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85533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Adaptive magic-link intake + live status + consent.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09333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DC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85533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Family / client portal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31166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69266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3 · Intake review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831166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DC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07366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One-screen client overview / summary.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31166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DC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07366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Clinician web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53000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91100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4 · Consult prep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53000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AI prep brief — probes, red flags, references.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53000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0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Clinician web + AI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74833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12933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5 · Consultation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74833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51033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Schedule the consult + calendar / video links.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74833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51033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Clinician web + calendar / video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196666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34766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6 · Triage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196666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272866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Capture triage outcome + rationale.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196666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72866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Clinician web — triage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318499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6E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356600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7 · Session plan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318499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E8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94700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AI-drafted, clinician-edited session plan.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318499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E8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94700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Clinician web + AI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440333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6E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478433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8 · Family summary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440333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E8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516533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Tone / reading-level client summary via portal.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440333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E8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6533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Client app / portal + AI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562166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4C8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600266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9 · Carryover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562166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DCE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638366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Resources, progress portal &amp; report loop.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562166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DCE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638366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Client app + clinician web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71500" y="4902200"/>
            <a:ext cx="5715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8597A4"/>
                </a:solidFill>
                <a:latin typeface="Inter"/>
              </a:rPr>
              <a:t>WHERE SONA WINS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71500" y="5118100"/>
            <a:ext cx="2667000" cy="520700"/>
          </a:xfrm>
          <a:prstGeom prst="roundRect">
            <a:avLst>
              <a:gd name="adj" fmla="val 14634"/>
            </a:avLst>
          </a:prstGeom>
          <a:solidFill>
            <a:srgbClr val="E6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73100" y="5118100"/>
            <a:ext cx="2463800" cy="5207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2D6A6E"/>
                </a:solidFill>
                <a:latin typeface="Inter"/>
              </a:rPr>
              <a:t>Own the first 30 days as one reviewed loop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365500" y="5118100"/>
            <a:ext cx="2667000" cy="520700"/>
          </a:xfrm>
          <a:prstGeom prst="roundRect">
            <a:avLst>
              <a:gd name="adj" fmla="val 14634"/>
            </a:avLst>
          </a:prstGeom>
          <a:solidFill>
            <a:srgbClr val="E6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467100" y="5118100"/>
            <a:ext cx="2463800" cy="5207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2D6A6E"/>
                </a:solidFill>
                <a:latin typeface="Inter"/>
              </a:rPr>
              <a:t>Trust is the moat — clinician signs every AI draft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159500" y="5118100"/>
            <a:ext cx="2667000" cy="520700"/>
          </a:xfrm>
          <a:prstGeom prst="roundRect">
            <a:avLst>
              <a:gd name="adj" fmla="val 14634"/>
            </a:avLst>
          </a:prstGeom>
          <a:solidFill>
            <a:srgbClr val="E6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1100" y="5118100"/>
            <a:ext cx="2463800" cy="5207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2D6A6E"/>
                </a:solidFill>
                <a:latin typeface="Inter"/>
              </a:rPr>
              <a:t>Start paediatric, then generalise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953500" y="5118100"/>
            <a:ext cx="2667000" cy="520700"/>
          </a:xfrm>
          <a:prstGeom prst="roundRect">
            <a:avLst>
              <a:gd name="adj" fmla="val 14634"/>
            </a:avLst>
          </a:prstGeom>
          <a:solidFill>
            <a:srgbClr val="E6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055100" y="5118100"/>
            <a:ext cx="2463800" cy="5207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2D6A6E"/>
                </a:solidFill>
                <a:latin typeface="Inter"/>
              </a:rPr>
              <a:t>UK data residency + clinical audit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1500" y="6388100"/>
            <a:ext cx="11049000" cy="1397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625" b="0">
                <a:solidFill>
                  <a:srgbClr val="8597A4"/>
                </a:solidFill>
                <a:latin typeface="Inter"/>
              </a:rPr>
              <a:t>Colour groups the nine stages into their five phases.   ·   Generalized across SLTs (Pediatric &amp; Adult).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1500" y="6604000"/>
            <a:ext cx="5715000" cy="1397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>
                <a:solidFill>
                  <a:srgbClr val="8597A4"/>
                </a:solidFill>
                <a:latin typeface="Inter"/>
              </a:rPr>
              <a:t>Sona — Care Journey &amp; Product Overview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414000" y="6604000"/>
            <a:ext cx="1206500" cy="1397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0"/>
              </a:spcAft>
            </a:pPr>
            <a:r>
              <a:rPr sz="600" b="0">
                <a:solidFill>
                  <a:srgbClr val="8597A4"/>
                </a:solidFill>
                <a:latin typeface="Inter"/>
              </a:rPr>
              <a:t>3 /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1500" y="406400"/>
            <a:ext cx="5715000" cy="1651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8597A4"/>
                </a:solidFill>
                <a:latin typeface="Inter"/>
              </a:rPr>
              <a:t>PROCESS FLOW · TO-BE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571500"/>
            <a:ext cx="9525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2D6A6E"/>
                </a:solidFill>
                <a:latin typeface="Inter"/>
              </a:rPr>
              <a:t>How the journey runs with Sona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003300"/>
            <a:ext cx="10922000" cy="3175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A5B6B"/>
                </a:solidFill>
                <a:latin typeface="Inter"/>
              </a:rPr>
              <a:t>A swimlane map of the proposed (To-Be) process — read against today's As-Is to spot what to optimise, and use it to design the prototypes and screens.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473200"/>
            <a:ext cx="10439400" cy="124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1000" y="1473200"/>
            <a:ext cx="990599" cy="1244600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 rot="16200000">
            <a:off x="381000" y="1473200"/>
            <a:ext cx="990599" cy="1244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Inter"/>
              </a:rPr>
              <a:t>Client / Parent / Carer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717800"/>
            <a:ext cx="10439400" cy="1244600"/>
          </a:xfrm>
          <a:prstGeom prst="rect">
            <a:avLst/>
          </a:prstGeom>
          <a:solidFill>
            <a:srgbClr val="F3F6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1000" y="2717800"/>
            <a:ext cx="990599" cy="1244600"/>
          </a:xfrm>
          <a:prstGeom prst="rect">
            <a:avLst/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 rot="16200000">
            <a:off x="381000" y="2717800"/>
            <a:ext cx="990599" cy="1244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Inter"/>
              </a:rPr>
              <a:t>Clinician / SLT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3962399"/>
            <a:ext cx="10439400" cy="124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1000" y="3962399"/>
            <a:ext cx="990599" cy="1244600"/>
          </a:xfrm>
          <a:prstGeom prst="rect">
            <a:avLst/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 rot="16200000">
            <a:off x="381000" y="3962399"/>
            <a:ext cx="990599" cy="1244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Inter"/>
              </a:rPr>
              <a:t>Sona  (app &amp; AI)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5207000"/>
            <a:ext cx="10439400" cy="1244600"/>
          </a:xfrm>
          <a:prstGeom prst="rect">
            <a:avLst/>
          </a:prstGeom>
          <a:solidFill>
            <a:srgbClr val="F3F6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1000" y="5207000"/>
            <a:ext cx="990599" cy="1244600"/>
          </a:xfrm>
          <a:prstGeom prst="rect">
            <a:avLst/>
          </a:prstGeom>
          <a:solidFill>
            <a:srgbClr val="4C8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 rot="16200000">
            <a:off x="381000" y="5207000"/>
            <a:ext cx="990599" cy="1244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Inter"/>
              </a:rPr>
              <a:t>External  (calendar · PMS)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97000" y="1866899"/>
            <a:ext cx="1016000" cy="457200"/>
          </a:xfrm>
          <a:prstGeom prst="roundRect">
            <a:avLst>
              <a:gd name="adj" fmla="val 50000"/>
            </a:avLst>
          </a:prstGeom>
          <a:solidFill>
            <a:srgbClr val="FBF7F1"/>
          </a:solidFill>
          <a:ln w="12700">
            <a:solidFill>
              <a:srgbClr val="C98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0500" y="1866899"/>
            <a:ext cx="8890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1">
                <a:solidFill>
                  <a:srgbClr val="142433"/>
                </a:solidFill>
                <a:latin typeface="Inter"/>
              </a:rPr>
              <a:t>Enquiry arrives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97000" y="43624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0500" y="43624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Capture enquiry + smart intake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62200" y="18732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25700" y="18732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Complete intake &amp; consent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27400" y="43624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90900" y="43624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AI prep brief (DRAFT)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2600" y="31178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56100" y="31178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Review overview + prep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2600" y="56070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56100" y="56070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Calendar / video link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57800" y="31178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21300" y="31178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Consultation (~20 min)</a:t>
            </a:r>
          </a:p>
        </p:txBody>
      </p:sp>
      <p:sp>
        <p:nvSpPr>
          <p:cNvPr id="32" name="Diamond 31"/>
          <p:cNvSpPr/>
          <p:nvPr/>
        </p:nvSpPr>
        <p:spPr>
          <a:xfrm>
            <a:off x="6184900" y="3009900"/>
            <a:ext cx="1092200" cy="660400"/>
          </a:xfrm>
          <a:prstGeom prst="diamond">
            <a:avLst/>
          </a:prstGeom>
          <a:solidFill>
            <a:srgbClr val="FFF0E6"/>
          </a:solidFill>
          <a:ln w="19050">
            <a:solidFill>
              <a:srgbClr val="C4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rmAutofit/>
          </a:bodyPr>
          <a:lstStyle/>
          <a:p>
            <a:pPr algn="ctr"/>
            <a:r>
              <a:rPr sz="625" b="1">
                <a:solidFill>
                  <a:srgbClr val="142433"/>
                </a:solidFill>
                <a:latin typeface="Inter"/>
              </a:rPr>
              <a:t>Ongoing therapy?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88200" y="43624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51700" y="43624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AI session plan (DRAFT)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88200" y="31178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51700" y="31178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Strategy advice &amp; home tips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3399" y="31178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16900" y="31178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Edit &amp; sign plan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18600" y="43624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82100" y="43624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AI family summary (DRAFT)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3800" y="31178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47300" y="31178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Review &amp; send summary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26600" y="18732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90100" y="18732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Receive summary (app)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83800" y="43624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47300" y="43624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Carryover + progress portal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083800" y="56070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147300" y="56070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PMS sync (vision)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775950" y="1866899"/>
            <a:ext cx="952500" cy="457200"/>
          </a:xfrm>
          <a:prstGeom prst="roundRect">
            <a:avLst>
              <a:gd name="adj" fmla="val 50000"/>
            </a:avLst>
          </a:prstGeom>
          <a:solidFill>
            <a:srgbClr val="FBF7F1"/>
          </a:solidFill>
          <a:ln w="12700">
            <a:solidFill>
              <a:srgbClr val="C98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839450" y="1866899"/>
            <a:ext cx="8255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1">
                <a:solidFill>
                  <a:srgbClr val="142433"/>
                </a:solidFill>
                <a:latin typeface="Inter"/>
              </a:rPr>
              <a:t>Ongoing care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905000" y="2324100"/>
            <a:ext cx="0" cy="203835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905000" y="2317750"/>
            <a:ext cx="965200" cy="204470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870200" y="2317750"/>
            <a:ext cx="965200" cy="204470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835400" y="3562350"/>
            <a:ext cx="965200" cy="80010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800600" y="3562350"/>
            <a:ext cx="965200" cy="204470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5257800" y="3340100"/>
            <a:ext cx="50800" cy="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6184900" y="3340100"/>
            <a:ext cx="88900" cy="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731000" y="3670300"/>
            <a:ext cx="965199" cy="69215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7023100" y="3876674"/>
            <a:ext cx="381000" cy="1397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1">
                <a:solidFill>
                  <a:srgbClr val="4A5B6B"/>
                </a:solidFill>
                <a:latin typeface="Inter"/>
              </a:rPr>
              <a:t>Yes</a:t>
            </a:r>
          </a:p>
        </p:txBody>
      </p:sp>
      <p:cxnSp>
        <p:nvCxnSpPr>
          <p:cNvPr id="60" name="Connector 59"/>
          <p:cNvCxnSpPr/>
          <p:nvPr/>
        </p:nvCxnSpPr>
        <p:spPr>
          <a:xfrm flipH="1">
            <a:off x="7188200" y="3340100"/>
            <a:ext cx="88900" cy="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42150" y="3200400"/>
            <a:ext cx="381000" cy="1397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1">
                <a:solidFill>
                  <a:srgbClr val="4A5B6B"/>
                </a:solidFill>
                <a:latin typeface="Inter"/>
              </a:rPr>
              <a:t>No</a:t>
            </a:r>
          </a:p>
        </p:txBody>
      </p:sp>
      <p:cxnSp>
        <p:nvCxnSpPr>
          <p:cNvPr id="62" name="Connector 61"/>
          <p:cNvCxnSpPr/>
          <p:nvPr/>
        </p:nvCxnSpPr>
        <p:spPr>
          <a:xfrm flipV="1">
            <a:off x="7696199" y="3562350"/>
            <a:ext cx="965201" cy="80010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8661400" y="3562350"/>
            <a:ext cx="965200" cy="80010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8204199" y="3340100"/>
            <a:ext cx="914401" cy="124460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9626600" y="3562350"/>
            <a:ext cx="965200" cy="80010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 flipV="1">
            <a:off x="10134600" y="2317750"/>
            <a:ext cx="457200" cy="80010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0591800" y="3562350"/>
            <a:ext cx="0" cy="80010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642600" y="2095499"/>
            <a:ext cx="133350" cy="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0591800" y="4806950"/>
            <a:ext cx="0" cy="80010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371600" y="6464300"/>
            <a:ext cx="11049000" cy="1397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625" b="0">
                <a:solidFill>
                  <a:srgbClr val="8597A4"/>
                </a:solidFill>
                <a:latin typeface="Inter"/>
              </a:rPr>
              <a:t>Shapes:  rounded = task   ·   diamond = decision   ·   pill = start / end.    DRAFT = AI artifact the clinician reviews &amp; signs.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71500" y="6654800"/>
            <a:ext cx="5715000" cy="1397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>
                <a:solidFill>
                  <a:srgbClr val="8597A4"/>
                </a:solidFill>
                <a:latin typeface="Inter"/>
              </a:rPr>
              <a:t>Sona — Care Journey &amp; Product Overview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414000" y="6654800"/>
            <a:ext cx="1206500" cy="1397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0"/>
              </a:spcAft>
            </a:pPr>
            <a:r>
              <a:rPr sz="600" b="0">
                <a:solidFill>
                  <a:srgbClr val="8597A4"/>
                </a:solidFill>
                <a:latin typeface="Inter"/>
              </a:rPr>
              <a:t>4 /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