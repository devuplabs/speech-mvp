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71500" y="469899"/>
            <a:ext cx="5715000" cy="1651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>
                <a:solidFill>
                  <a:srgbClr val="8597A4"/>
                </a:solidFill>
                <a:latin typeface="Inter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635000"/>
            <a:ext cx="11176000" cy="4445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2D6A6E"/>
                </a:solidFill>
                <a:latin typeface="Inter"/>
              </a:rPr>
              <a:t>Sona — Care Journey &amp; Product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1500" y="1143000"/>
            <a:ext cx="9906000" cy="5080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4A5B6B"/>
                </a:solidFill>
                <a:latin typeface="Inter"/>
              </a:rPr>
              <a:t>An AI co-pilot that reduces admin burnout in UK private Speech &amp; Language Therapy (SLT) — giving clinicians more productive time for care across a client's first 30 days.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84200" y="1727200"/>
            <a:ext cx="889000" cy="31750"/>
          </a:xfrm>
          <a:prstGeom prst="roundRect">
            <a:avLst>
              <a:gd name="adj" fmla="val 40000"/>
            </a:avLst>
          </a:prstGeom>
          <a:solidFill>
            <a:srgbClr val="F2A8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71500" y="2032000"/>
            <a:ext cx="5207000" cy="1778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2D6A6E"/>
                </a:solidFill>
                <a:latin typeface="Inter"/>
              </a:rPr>
              <a:t>WHAT IS SONA?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1500" y="2286000"/>
            <a:ext cx="5143500" cy="27940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142433"/>
                </a:solidFill>
                <a:latin typeface="Inter"/>
              </a:rPr>
              <a:t>Sona is an AI co-pilot for UK private Speech &amp; Language Therapy (SLT) practices.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900" b="0">
                <a:solidFill>
                  <a:srgbClr val="142433"/>
                </a:solidFill>
                <a:latin typeface="Inter"/>
              </a:rPr>
              <a:t>It does the repetitive admin alongside the clinician — capturing the enquiry, running a smart intake, prepping the consult, recording the triage decision, and drafting the first session plan and family summary, always as drafts for the clinician to review.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900" b="0">
                <a:solidFill>
                  <a:srgbClr val="142433"/>
                </a:solidFill>
                <a:latin typeface="Inter"/>
              </a:rPr>
              <a:t>Sona augments clinicians. Its purpose is to increase human productivity — less admin burnout, more time for care.</a:t>
            </a:r>
          </a:p>
        </p:txBody>
      </p:sp>
      <p:sp>
        <p:nvSpPr>
          <p:cNvPr id="9" name="Rectangle 8"/>
          <p:cNvSpPr/>
          <p:nvPr/>
        </p:nvSpPr>
        <p:spPr>
          <a:xfrm>
            <a:off x="6083300" y="2044700"/>
            <a:ext cx="12700" cy="29845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88100" y="2032000"/>
            <a:ext cx="5080000" cy="1778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2D6A6E"/>
                </a:solidFill>
                <a:latin typeface="Inter"/>
              </a:rPr>
              <a:t>HOW TO READ THIS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88100" y="2298700"/>
            <a:ext cx="5080000" cy="1778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4A5B6B"/>
                </a:solidFill>
                <a:latin typeface="Inter"/>
              </a:rPr>
              <a:t>Three views, read left → right: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88100" y="2578100"/>
            <a:ext cx="5207000" cy="17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D6A6E"/>
                </a:solidFill>
                <a:latin typeface="Inter"/>
              </a:rPr>
              <a:t>Executive</a:t>
            </a:r>
            <a:r>
              <a:rPr sz="900" b="0">
                <a:solidFill>
                  <a:srgbClr val="142433"/>
                </a:solidFill>
                <a:latin typeface="Inter"/>
              </a:rPr>
              <a:t>  —  the journey &amp; the value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88100" y="2832100"/>
            <a:ext cx="5207000" cy="17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D6A6E"/>
                </a:solidFill>
                <a:latin typeface="Inter"/>
              </a:rPr>
              <a:t>Product</a:t>
            </a:r>
            <a:r>
              <a:rPr sz="900" b="0">
                <a:solidFill>
                  <a:srgbClr val="142433"/>
                </a:solidFill>
                <a:latin typeface="Inter"/>
              </a:rPr>
              <a:t>  —  the proposed solution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88100" y="3086100"/>
            <a:ext cx="5207000" cy="17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D6A6E"/>
                </a:solidFill>
                <a:latin typeface="Inter"/>
              </a:rPr>
              <a:t>Process flow</a:t>
            </a:r>
            <a:r>
              <a:rPr sz="900" b="0">
                <a:solidFill>
                  <a:srgbClr val="142433"/>
                </a:solidFill>
                <a:latin typeface="Inter"/>
              </a:rPr>
              <a:t>  —  the To-Be swimlane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88100" y="3530600"/>
            <a:ext cx="5080000" cy="1651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>
                <a:solidFill>
                  <a:srgbClr val="2D6A6E"/>
                </a:solidFill>
                <a:latin typeface="Inter"/>
              </a:rPr>
              <a:t>WHO'S WHO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88100" y="3733799"/>
            <a:ext cx="5143500" cy="3810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4A5B6B"/>
                </a:solidFill>
                <a:latin typeface="Inter"/>
              </a:rPr>
              <a:t>client / parent / carer — the family or adult client
clinician / SLT — the therapist    ·    practice — the private clinic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71500" y="5664200"/>
            <a:ext cx="11049000" cy="762000"/>
          </a:xfrm>
          <a:prstGeom prst="roundRect">
            <a:avLst>
              <a:gd name="adj" fmla="val 13333"/>
            </a:avLst>
          </a:prstGeom>
          <a:solidFill>
            <a:srgbClr val="E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4700" y="5803900"/>
            <a:ext cx="3810000" cy="152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1">
                <a:solidFill>
                  <a:srgbClr val="2D6A6E"/>
                </a:solidFill>
                <a:latin typeface="Inter"/>
              </a:rPr>
              <a:t>ANCHOR PRINCIPLES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4700" y="6032500"/>
            <a:ext cx="2667000" cy="1778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1E4A4D"/>
                </a:solidFill>
                <a:latin typeface="Inter"/>
              </a:rPr>
              <a:t>AI drafts, clinician decides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30600" y="6032500"/>
            <a:ext cx="2667000" cy="1778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1E4A4D"/>
                </a:solidFill>
                <a:latin typeface="Inter"/>
              </a:rPr>
              <a:t>No screen time for children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86500" y="6032500"/>
            <a:ext cx="2667000" cy="1778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1E4A4D"/>
                </a:solidFill>
                <a:latin typeface="Inter"/>
              </a:rPr>
              <a:t>UK data residency + audit by construction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53500" y="6032500"/>
            <a:ext cx="2667000" cy="1778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1E4A4D"/>
                </a:solidFill>
                <a:latin typeface="Inter"/>
              </a:rPr>
              <a:t>Augment people, never replace them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429000" y="6007100"/>
            <a:ext cx="6350" cy="279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84900" y="6007100"/>
            <a:ext cx="6350" cy="279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851900" y="6007100"/>
            <a:ext cx="6350" cy="279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71500" y="6604000"/>
            <a:ext cx="5715000" cy="1397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0"/>
              </a:spcAft>
            </a:pPr>
            <a:r>
              <a:rPr sz="600" b="0">
                <a:solidFill>
                  <a:srgbClr val="8597A4"/>
                </a:solidFill>
                <a:latin typeface="Inter"/>
              </a:rPr>
              <a:t>Sona — Care Journey &amp; Product Overview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14000" y="6604000"/>
            <a:ext cx="1206500" cy="1397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0"/>
              </a:spcAft>
            </a:pPr>
            <a:r>
              <a:rPr sz="600" b="0">
                <a:solidFill>
                  <a:srgbClr val="8597A4"/>
                </a:solidFill>
                <a:latin typeface="Inter"/>
              </a:rPr>
              <a:t>1 / 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71500" y="469899"/>
            <a:ext cx="5715000" cy="1651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>
                <a:solidFill>
                  <a:srgbClr val="8597A4"/>
                </a:solidFill>
                <a:latin typeface="Inter"/>
              </a:rPr>
              <a:t>EXECUTIVE 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635000"/>
            <a:ext cx="10160000" cy="3810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2D6A6E"/>
                </a:solidFill>
                <a:latin typeface="Inter"/>
              </a:rPr>
              <a:t>The care journey at a glance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1500" y="1066800"/>
            <a:ext cx="10287000" cy="3175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4A5B6B"/>
                </a:solidFill>
                <a:latin typeface="Inter"/>
              </a:rPr>
              <a:t>How a new SLT case feels today, and where Sona reduces admin burnout and adds value — across five phases.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84200" y="1422400"/>
            <a:ext cx="889000" cy="31750"/>
          </a:xfrm>
          <a:prstGeom prst="roundRect">
            <a:avLst>
              <a:gd name="adj" fmla="val 40000"/>
            </a:avLst>
          </a:prstGeom>
          <a:solidFill>
            <a:srgbClr val="F2A8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71500" y="1663700"/>
            <a:ext cx="2098040" cy="419100"/>
          </a:xfrm>
          <a:prstGeom prst="roundRect">
            <a:avLst>
              <a:gd name="adj" fmla="val 18181"/>
            </a:avLst>
          </a:prstGeom>
          <a:solidFill>
            <a:srgbClr val="2D6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700" y="1663700"/>
            <a:ext cx="1945640" cy="4191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Inter"/>
              </a:rPr>
              <a:t>1 · Find &amp; enquire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09239" y="1663700"/>
            <a:ext cx="2098040" cy="419100"/>
          </a:xfrm>
          <a:prstGeom prst="roundRect">
            <a:avLst>
              <a:gd name="adj" fmla="val 18181"/>
            </a:avLst>
          </a:prstGeom>
          <a:solidFill>
            <a:srgbClr val="3569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85440" y="1663700"/>
            <a:ext cx="1945640" cy="4191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Inter"/>
              </a:rPr>
              <a:t>2 · Understand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46979" y="1663700"/>
            <a:ext cx="2098040" cy="419100"/>
          </a:xfrm>
          <a:prstGeom prst="roundRect">
            <a:avLst>
              <a:gd name="adj" fmla="val 18181"/>
            </a:avLst>
          </a:prstGeom>
          <a:solidFill>
            <a:srgbClr val="C07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3180" y="1663700"/>
            <a:ext cx="1945640" cy="4191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Inter"/>
              </a:rPr>
              <a:t>3 · Meet &amp; decide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84719" y="1663700"/>
            <a:ext cx="2098040" cy="419100"/>
          </a:xfrm>
          <a:prstGeom prst="roundRect">
            <a:avLst>
              <a:gd name="adj" fmla="val 18181"/>
            </a:avLst>
          </a:prstGeom>
          <a:solidFill>
            <a:srgbClr val="6E5A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60919" y="1663700"/>
            <a:ext cx="1945640" cy="4191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Inter"/>
              </a:rPr>
              <a:t>4 · Plan &amp; share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522459" y="1663700"/>
            <a:ext cx="2098040" cy="419100"/>
          </a:xfrm>
          <a:prstGeom prst="roundRect">
            <a:avLst>
              <a:gd name="adj" fmla="val 18181"/>
            </a:avLst>
          </a:prstGeom>
          <a:solidFill>
            <a:srgbClr val="4C8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98660" y="1663700"/>
            <a:ext cx="1945640" cy="4191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Inter"/>
              </a:rPr>
              <a:t>5 · Progress together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1500" y="2286000"/>
            <a:ext cx="5715000" cy="152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1">
                <a:solidFill>
                  <a:srgbClr val="8597A4"/>
                </a:solidFill>
                <a:latin typeface="Inter"/>
              </a:rPr>
              <a:t>SENTIMENT · FAMILY + CLINICIAN</a:t>
            </a:r>
          </a:p>
        </p:txBody>
      </p:sp>
      <p:sp>
        <p:nvSpPr>
          <p:cNvPr id="18" name="Freeform 17"/>
          <p:cNvSpPr/>
          <p:nvPr/>
        </p:nvSpPr>
        <p:spPr>
          <a:xfrm>
            <a:off x="1620520" y="2631440"/>
            <a:ext cx="8950959" cy="797560"/>
          </a:xfrm>
          <a:custGeom>
            <a:avLst/>
            <a:gdLst/>
            <a:ahLst/>
            <a:cxnLst/>
            <a:rect l="l" t="t" r="r" b="b"/>
            <a:pathLst>
              <a:path w="8950959" h="797560">
                <a:moveTo>
                  <a:pt x="0" y="797560"/>
                </a:moveTo>
                <a:lnTo>
                  <a:pt x="0" y="544830"/>
                </a:lnTo>
                <a:lnTo>
                  <a:pt x="2237739" y="628650"/>
                </a:lnTo>
                <a:lnTo>
                  <a:pt x="4475480" y="321310"/>
                </a:lnTo>
                <a:lnTo>
                  <a:pt x="6713219" y="125729"/>
                </a:lnTo>
                <a:lnTo>
                  <a:pt x="8950959" y="0"/>
                </a:lnTo>
                <a:lnTo>
                  <a:pt x="8950959" y="797560"/>
                </a:lnTo>
                <a:close/>
              </a:path>
            </a:pathLst>
          </a:custGeom>
          <a:solidFill>
            <a:srgbClr val="D9E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571500" y="3429000"/>
            <a:ext cx="11049000" cy="0"/>
          </a:xfrm>
          <a:prstGeom prst="line">
            <a:avLst/>
          </a:prstGeom>
          <a:ln w="9525">
            <a:solidFill>
              <a:srgbClr val="E5E7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620520" y="3176270"/>
            <a:ext cx="2237739" cy="83820"/>
          </a:xfrm>
          <a:prstGeom prst="line">
            <a:avLst/>
          </a:prstGeom>
          <a:ln w="25400">
            <a:solidFill>
              <a:srgbClr val="2D6A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3858259" y="2952750"/>
            <a:ext cx="2237741" cy="307340"/>
          </a:xfrm>
          <a:prstGeom prst="line">
            <a:avLst/>
          </a:prstGeom>
          <a:ln w="25400">
            <a:solidFill>
              <a:srgbClr val="2D6A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6096000" y="2757169"/>
            <a:ext cx="2237739" cy="195581"/>
          </a:xfrm>
          <a:prstGeom prst="line">
            <a:avLst/>
          </a:prstGeom>
          <a:ln w="25400">
            <a:solidFill>
              <a:srgbClr val="2D6A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8333739" y="2631440"/>
            <a:ext cx="2237740" cy="125729"/>
          </a:xfrm>
          <a:prstGeom prst="line">
            <a:avLst/>
          </a:prstGeom>
          <a:ln w="25400">
            <a:solidFill>
              <a:srgbClr val="2D6A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Oval 23"/>
          <p:cNvSpPr/>
          <p:nvPr/>
        </p:nvSpPr>
        <p:spPr>
          <a:xfrm>
            <a:off x="1557020" y="3112770"/>
            <a:ext cx="127000" cy="127000"/>
          </a:xfrm>
          <a:prstGeom prst="ellipse">
            <a:avLst/>
          </a:prstGeom>
          <a:solidFill>
            <a:srgbClr val="2D6A6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71500" y="3530600"/>
            <a:ext cx="2098040" cy="1524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2D6A6E"/>
                </a:solidFill>
                <a:latin typeface="Inter"/>
              </a:rPr>
              <a:t>Anxious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71500" y="3695700"/>
            <a:ext cx="2098040" cy="1397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spcAft>
                <a:spcPts val="0"/>
              </a:spcAft>
            </a:pPr>
            <a:r>
              <a:rPr sz="675" b="0">
                <a:solidFill>
                  <a:srgbClr val="4A5B6B"/>
                </a:solidFill>
                <a:latin typeface="Inter"/>
              </a:rPr>
              <a:t>unsure where to start</a:t>
            </a:r>
          </a:p>
        </p:txBody>
      </p:sp>
      <p:sp>
        <p:nvSpPr>
          <p:cNvPr id="27" name="Oval 26"/>
          <p:cNvSpPr/>
          <p:nvPr/>
        </p:nvSpPr>
        <p:spPr>
          <a:xfrm>
            <a:off x="3794759" y="3196590"/>
            <a:ext cx="127000" cy="127000"/>
          </a:xfrm>
          <a:prstGeom prst="ellipse">
            <a:avLst/>
          </a:prstGeom>
          <a:solidFill>
            <a:srgbClr val="2D6A6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809239" y="3530600"/>
            <a:ext cx="2098040" cy="1524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2D6A6E"/>
                </a:solidFill>
                <a:latin typeface="Inter"/>
              </a:rPr>
              <a:t>Overwhelmed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809239" y="3695700"/>
            <a:ext cx="2098040" cy="1397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spcAft>
                <a:spcPts val="0"/>
              </a:spcAft>
            </a:pPr>
            <a:r>
              <a:rPr sz="675" b="0">
                <a:solidFill>
                  <a:srgbClr val="4A5B6B"/>
                </a:solidFill>
                <a:latin typeface="Inter"/>
              </a:rPr>
              <a:t>so much to take in</a:t>
            </a:r>
          </a:p>
        </p:txBody>
      </p:sp>
      <p:sp>
        <p:nvSpPr>
          <p:cNvPr id="30" name="Oval 29"/>
          <p:cNvSpPr/>
          <p:nvPr/>
        </p:nvSpPr>
        <p:spPr>
          <a:xfrm>
            <a:off x="6032500" y="2889250"/>
            <a:ext cx="127000" cy="127000"/>
          </a:xfrm>
          <a:prstGeom prst="ellipse">
            <a:avLst/>
          </a:prstGeom>
          <a:solidFill>
            <a:srgbClr val="2D6A6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46979" y="3530600"/>
            <a:ext cx="2098040" cy="1524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2D6A6E"/>
                </a:solidFill>
                <a:latin typeface="Inter"/>
              </a:rPr>
              <a:t>Hopeful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46979" y="3695700"/>
            <a:ext cx="2098040" cy="1397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spcAft>
                <a:spcPts val="0"/>
              </a:spcAft>
            </a:pPr>
            <a:r>
              <a:rPr sz="675" b="0">
                <a:solidFill>
                  <a:srgbClr val="4A5B6B"/>
                </a:solidFill>
                <a:latin typeface="Inter"/>
              </a:rPr>
              <a:t>a clear path forward</a:t>
            </a:r>
          </a:p>
        </p:txBody>
      </p:sp>
      <p:sp>
        <p:nvSpPr>
          <p:cNvPr id="33" name="Oval 32"/>
          <p:cNvSpPr/>
          <p:nvPr/>
        </p:nvSpPr>
        <p:spPr>
          <a:xfrm>
            <a:off x="8270240" y="2693670"/>
            <a:ext cx="127000" cy="127000"/>
          </a:xfrm>
          <a:prstGeom prst="ellipse">
            <a:avLst/>
          </a:prstGeom>
          <a:solidFill>
            <a:srgbClr val="2D6A6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284719" y="3530600"/>
            <a:ext cx="2098040" cy="1524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2D6A6E"/>
                </a:solidFill>
                <a:latin typeface="Inter"/>
              </a:rPr>
              <a:t>Reassured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84719" y="3695700"/>
            <a:ext cx="2098040" cy="1397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spcAft>
                <a:spcPts val="0"/>
              </a:spcAft>
            </a:pPr>
            <a:r>
              <a:rPr sz="675" b="0">
                <a:solidFill>
                  <a:srgbClr val="4A5B6B"/>
                </a:solidFill>
                <a:latin typeface="Inter"/>
              </a:rPr>
              <a:t>kept in the loop</a:t>
            </a:r>
          </a:p>
        </p:txBody>
      </p:sp>
      <p:sp>
        <p:nvSpPr>
          <p:cNvPr id="36" name="Oval 35"/>
          <p:cNvSpPr/>
          <p:nvPr/>
        </p:nvSpPr>
        <p:spPr>
          <a:xfrm>
            <a:off x="10507980" y="2567940"/>
            <a:ext cx="127000" cy="127000"/>
          </a:xfrm>
          <a:prstGeom prst="ellipse">
            <a:avLst/>
          </a:prstGeom>
          <a:solidFill>
            <a:srgbClr val="2D6A6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522459" y="3530600"/>
            <a:ext cx="2098040" cy="1524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2D6A6E"/>
                </a:solidFill>
                <a:latin typeface="Inter"/>
              </a:rPr>
              <a:t>Confident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522459" y="3695700"/>
            <a:ext cx="2098040" cy="1397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spcAft>
                <a:spcPts val="0"/>
              </a:spcAft>
            </a:pPr>
            <a:r>
              <a:rPr sz="675" b="0">
                <a:solidFill>
                  <a:srgbClr val="4A5B6B"/>
                </a:solidFill>
                <a:latin typeface="Inter"/>
              </a:rPr>
              <a:t>confident &amp; in control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71500" y="4038600"/>
            <a:ext cx="5715000" cy="152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1">
                <a:solidFill>
                  <a:srgbClr val="8597A4"/>
                </a:solidFill>
                <a:latin typeface="Inter"/>
              </a:rPr>
              <a:t>TODAY'S PAIN — BY PHASE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71500" y="4241800"/>
            <a:ext cx="2098040" cy="736600"/>
          </a:xfrm>
          <a:prstGeom prst="roundRect">
            <a:avLst>
              <a:gd name="adj" fmla="val 10344"/>
            </a:avLst>
          </a:prstGeom>
          <a:solidFill>
            <a:srgbClr val="F2F5F6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673100" y="4343400"/>
            <a:ext cx="57150" cy="57150"/>
          </a:xfrm>
          <a:prstGeom prst="ellipse">
            <a:avLst/>
          </a:prstGeom>
          <a:solidFill>
            <a:srgbClr val="F2A8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73100" y="4241800"/>
            <a:ext cx="1894839" cy="7366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3A4A55"/>
                </a:solidFill>
                <a:latin typeface="Inter"/>
              </a:rPr>
              <a:t>Enquiries slip through the cracks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809239" y="4241800"/>
            <a:ext cx="2098040" cy="736600"/>
          </a:xfrm>
          <a:prstGeom prst="roundRect">
            <a:avLst>
              <a:gd name="adj" fmla="val 10344"/>
            </a:avLst>
          </a:prstGeom>
          <a:solidFill>
            <a:srgbClr val="F2F5F6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2910840" y="4343400"/>
            <a:ext cx="57150" cy="57150"/>
          </a:xfrm>
          <a:prstGeom prst="ellipse">
            <a:avLst/>
          </a:prstGeom>
          <a:solidFill>
            <a:srgbClr val="F2A8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910840" y="4241800"/>
            <a:ext cx="1894839" cy="7366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3A4A55"/>
                </a:solidFill>
                <a:latin typeface="Inter"/>
              </a:rPr>
              <a:t>Chasing forms — everything is manual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046979" y="4241800"/>
            <a:ext cx="2098040" cy="736600"/>
          </a:xfrm>
          <a:prstGeom prst="roundRect">
            <a:avLst>
              <a:gd name="adj" fmla="val 10344"/>
            </a:avLst>
          </a:prstGeom>
          <a:solidFill>
            <a:srgbClr val="F2F5F6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5148580" y="4343400"/>
            <a:ext cx="57150" cy="57150"/>
          </a:xfrm>
          <a:prstGeom prst="ellipse">
            <a:avLst/>
          </a:prstGeom>
          <a:solidFill>
            <a:srgbClr val="F2A8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148580" y="4241800"/>
            <a:ext cx="1894839" cy="7366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3A4A55"/>
                </a:solidFill>
                <a:latin typeface="Inter"/>
              </a:rPr>
              <a:t>Prep is rushed; the free consult under-delivers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284719" y="4241800"/>
            <a:ext cx="2098040" cy="736600"/>
          </a:xfrm>
          <a:prstGeom prst="roundRect">
            <a:avLst>
              <a:gd name="adj" fmla="val 10344"/>
            </a:avLst>
          </a:prstGeom>
          <a:solidFill>
            <a:srgbClr val="F2F5F6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7386319" y="4343400"/>
            <a:ext cx="57150" cy="57150"/>
          </a:xfrm>
          <a:prstGeom prst="ellipse">
            <a:avLst/>
          </a:prstGeom>
          <a:solidFill>
            <a:srgbClr val="F2A8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386319" y="4241800"/>
            <a:ext cx="1894839" cy="7366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3A4A55"/>
                </a:solidFill>
                <a:latin typeface="Inter"/>
              </a:rPr>
              <a:t>Plans hand-built; reports take ~3 weeks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9522459" y="4241800"/>
            <a:ext cx="2098040" cy="736600"/>
          </a:xfrm>
          <a:prstGeom prst="roundRect">
            <a:avLst>
              <a:gd name="adj" fmla="val 10344"/>
            </a:avLst>
          </a:prstGeom>
          <a:solidFill>
            <a:srgbClr val="F2F5F6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9624059" y="4343400"/>
            <a:ext cx="57150" cy="57150"/>
          </a:xfrm>
          <a:prstGeom prst="ellipse">
            <a:avLst/>
          </a:prstGeom>
          <a:solidFill>
            <a:srgbClr val="F2A8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624059" y="4241800"/>
            <a:ext cx="1894839" cy="7366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3A4A55"/>
                </a:solidFill>
                <a:latin typeface="Inter"/>
              </a:rPr>
              <a:t>Carryover is ad-hoc (email / WhatsApp)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71500" y="5156200"/>
            <a:ext cx="5715000" cy="152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1">
                <a:solidFill>
                  <a:srgbClr val="8597A4"/>
                </a:solidFill>
                <a:latin typeface="Inter"/>
              </a:rPr>
              <a:t>TARGET OUTCOMES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584200" y="5359400"/>
            <a:ext cx="571500" cy="31750"/>
          </a:xfrm>
          <a:prstGeom prst="roundRect">
            <a:avLst>
              <a:gd name="adj" fmla="val 40000"/>
            </a:avLst>
          </a:prstGeom>
          <a:solidFill>
            <a:srgbClr val="F2A8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71500" y="5448300"/>
            <a:ext cx="5207000" cy="3556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2D6A6E"/>
                </a:solidFill>
                <a:latin typeface="Inter"/>
              </a:rPr>
              <a:t>≥ 4 hours / month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71500" y="5867400"/>
            <a:ext cx="5207000" cy="1905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4A5B6B"/>
                </a:solidFill>
                <a:latin typeface="Inter"/>
              </a:rPr>
              <a:t>productive hours given back to each clinician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6362700" y="5359400"/>
            <a:ext cx="571500" cy="31750"/>
          </a:xfrm>
          <a:prstGeom prst="roundRect">
            <a:avLst>
              <a:gd name="adj" fmla="val 40000"/>
            </a:avLst>
          </a:prstGeom>
          <a:solidFill>
            <a:srgbClr val="F2A8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350000" y="5448300"/>
            <a:ext cx="5207000" cy="3556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2D6A6E"/>
                </a:solidFill>
                <a:latin typeface="Inter"/>
              </a:rPr>
              <a:t>Same-day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350000" y="5867400"/>
            <a:ext cx="5207000" cy="1905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4A5B6B"/>
                </a:solidFill>
                <a:latin typeface="Inter"/>
              </a:rPr>
              <a:t>client summaries &amp; reports, vs the ~3-week manual baseline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71500" y="6604000"/>
            <a:ext cx="5715000" cy="1397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0"/>
              </a:spcAft>
            </a:pPr>
            <a:r>
              <a:rPr sz="600" b="0">
                <a:solidFill>
                  <a:srgbClr val="8597A4"/>
                </a:solidFill>
                <a:latin typeface="Inter"/>
              </a:rPr>
              <a:t>Sona — Care Journey &amp; Product Overview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414000" y="6604000"/>
            <a:ext cx="1206500" cy="1397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0"/>
              </a:spcAft>
            </a:pPr>
            <a:r>
              <a:rPr sz="600" b="0">
                <a:solidFill>
                  <a:srgbClr val="8597A4"/>
                </a:solidFill>
                <a:latin typeface="Inter"/>
              </a:rPr>
              <a:t>2 / 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71500" y="469899"/>
            <a:ext cx="5715000" cy="1651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>
                <a:solidFill>
                  <a:srgbClr val="8597A4"/>
                </a:solidFill>
                <a:latin typeface="Inter"/>
              </a:rPr>
              <a:t>PRODUCT 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635000"/>
            <a:ext cx="10160000" cy="3810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2D6A6E"/>
                </a:solidFill>
                <a:latin typeface="Inter"/>
              </a:rPr>
              <a:t>The proposed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1500" y="1066800"/>
            <a:ext cx="10541000" cy="3175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4A5B6B"/>
                </a:solidFill>
                <a:latin typeface="Inter"/>
              </a:rPr>
              <a:t>The client's first 30 days as nine stages grouped into five phases — for each stage: what Sona does, and the surface that delivers it.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84200" y="1422400"/>
            <a:ext cx="889000" cy="31750"/>
          </a:xfrm>
          <a:prstGeom prst="roundRect">
            <a:avLst>
              <a:gd name="adj" fmla="val 40000"/>
            </a:avLst>
          </a:prstGeom>
          <a:solidFill>
            <a:srgbClr val="F2A8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71500" y="1828800"/>
            <a:ext cx="939799" cy="3175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1">
                <a:solidFill>
                  <a:srgbClr val="4A5B6B"/>
                </a:solidFill>
                <a:latin typeface="Inter"/>
              </a:rPr>
              <a:t>Phase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1500" y="2197100"/>
            <a:ext cx="939799" cy="3810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1">
                <a:solidFill>
                  <a:srgbClr val="4A5B6B"/>
                </a:solidFill>
                <a:latin typeface="Inter"/>
              </a:rPr>
              <a:t>Stage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1500" y="2628900"/>
            <a:ext cx="939799" cy="11430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1">
                <a:solidFill>
                  <a:srgbClr val="4A5B6B"/>
                </a:solidFill>
                <a:latin typeface="Inter"/>
              </a:rPr>
              <a:t>What Sona does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1500" y="3822700"/>
            <a:ext cx="939799" cy="7620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1">
                <a:solidFill>
                  <a:srgbClr val="4A5B6B"/>
                </a:solidFill>
                <a:latin typeface="Inter"/>
              </a:rPr>
              <a:t>Surface / owner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587500" y="1828800"/>
            <a:ext cx="1058333" cy="317500"/>
          </a:xfrm>
          <a:prstGeom prst="roundRect">
            <a:avLst>
              <a:gd name="adj" fmla="val 20000"/>
            </a:avLst>
          </a:prstGeom>
          <a:solidFill>
            <a:srgbClr val="2D6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63700" y="1828800"/>
            <a:ext cx="905933" cy="3175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700" b="1">
                <a:solidFill>
                  <a:srgbClr val="FFFFFF"/>
                </a:solidFill>
                <a:latin typeface="Inter"/>
              </a:rPr>
              <a:t>Find &amp; enquire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09333" y="1828800"/>
            <a:ext cx="2180166" cy="317500"/>
          </a:xfrm>
          <a:prstGeom prst="roundRect">
            <a:avLst>
              <a:gd name="adj" fmla="val 20000"/>
            </a:avLst>
          </a:prstGeom>
          <a:solidFill>
            <a:srgbClr val="3569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85533" y="1828800"/>
            <a:ext cx="2027766" cy="3175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700" b="1">
                <a:solidFill>
                  <a:srgbClr val="FFFFFF"/>
                </a:solidFill>
                <a:latin typeface="Inter"/>
              </a:rPr>
              <a:t>Understand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953000" y="1828800"/>
            <a:ext cx="3302000" cy="317500"/>
          </a:xfrm>
          <a:prstGeom prst="roundRect">
            <a:avLst>
              <a:gd name="adj" fmla="val 20000"/>
            </a:avLst>
          </a:prstGeom>
          <a:solidFill>
            <a:srgbClr val="C07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0" y="1828800"/>
            <a:ext cx="3149600" cy="3175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700" b="1">
                <a:solidFill>
                  <a:srgbClr val="FFFFFF"/>
                </a:solidFill>
                <a:latin typeface="Inter"/>
              </a:rPr>
              <a:t>Meet &amp; decide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318499" y="1828800"/>
            <a:ext cx="2180166" cy="317500"/>
          </a:xfrm>
          <a:prstGeom prst="roundRect">
            <a:avLst>
              <a:gd name="adj" fmla="val 20000"/>
            </a:avLst>
          </a:prstGeom>
          <a:solidFill>
            <a:srgbClr val="6E5A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94700" y="1828800"/>
            <a:ext cx="2027766" cy="3175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700" b="1">
                <a:solidFill>
                  <a:srgbClr val="FFFFFF"/>
                </a:solidFill>
                <a:latin typeface="Inter"/>
              </a:rPr>
              <a:t>Plan &amp; share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562166" y="1828800"/>
            <a:ext cx="1058333" cy="317500"/>
          </a:xfrm>
          <a:prstGeom prst="roundRect">
            <a:avLst>
              <a:gd name="adj" fmla="val 20000"/>
            </a:avLst>
          </a:prstGeom>
          <a:solidFill>
            <a:srgbClr val="4C8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638366" y="1828800"/>
            <a:ext cx="905933" cy="3175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700" b="1">
                <a:solidFill>
                  <a:srgbClr val="FFFFFF"/>
                </a:solidFill>
                <a:latin typeface="Inter"/>
              </a:rPr>
              <a:t>Progress together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587500" y="2197100"/>
            <a:ext cx="1058333" cy="381000"/>
          </a:xfrm>
          <a:prstGeom prst="roundRect">
            <a:avLst>
              <a:gd name="adj" fmla="val 16666"/>
            </a:avLst>
          </a:prstGeom>
          <a:solidFill>
            <a:srgbClr val="2D6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625600" y="2197100"/>
            <a:ext cx="982133" cy="3810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Inter"/>
              </a:rPr>
              <a:t>1 · Referral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587500" y="2628900"/>
            <a:ext cx="1058333" cy="1143000"/>
          </a:xfrm>
          <a:prstGeom prst="roundRect">
            <a:avLst>
              <a:gd name="adj" fmla="val 6000"/>
            </a:avLst>
          </a:prstGeom>
          <a:solidFill>
            <a:srgbClr val="DCE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663700" y="2628900"/>
            <a:ext cx="905933" cy="11430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650" b="0">
                <a:solidFill>
                  <a:srgbClr val="142433"/>
                </a:solidFill>
                <a:latin typeface="Inter"/>
              </a:rPr>
              <a:t>Capture every enquiry — one case record + audit trail.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587500" y="3822700"/>
            <a:ext cx="1058333" cy="762000"/>
          </a:xfrm>
          <a:prstGeom prst="roundRect">
            <a:avLst>
              <a:gd name="adj" fmla="val 8333"/>
            </a:avLst>
          </a:prstGeom>
          <a:solidFill>
            <a:srgbClr val="DCE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663700" y="3822700"/>
            <a:ext cx="905933" cy="7620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625" b="0">
                <a:solidFill>
                  <a:srgbClr val="142433"/>
                </a:solidFill>
                <a:latin typeface="Inter"/>
              </a:rPr>
              <a:t>Clinician web — enquiry queue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709333" y="2197100"/>
            <a:ext cx="1058333" cy="381000"/>
          </a:xfrm>
          <a:prstGeom prst="roundRect">
            <a:avLst>
              <a:gd name="adj" fmla="val 16666"/>
            </a:avLst>
          </a:prstGeom>
          <a:solidFill>
            <a:srgbClr val="3569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747433" y="2197100"/>
            <a:ext cx="982133" cy="3810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Inter"/>
              </a:rPr>
              <a:t>2 · Smart intake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709333" y="2628900"/>
            <a:ext cx="1058333" cy="1143000"/>
          </a:xfrm>
          <a:prstGeom prst="roundRect">
            <a:avLst>
              <a:gd name="adj" fmla="val 6000"/>
            </a:avLst>
          </a:prstGeom>
          <a:solidFill>
            <a:srgbClr val="DC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785533" y="2628900"/>
            <a:ext cx="905933" cy="11430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650" b="0">
                <a:solidFill>
                  <a:srgbClr val="142433"/>
                </a:solidFill>
                <a:latin typeface="Inter"/>
              </a:rPr>
              <a:t>Adaptive magic-link intake + live status + consent.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709333" y="3822700"/>
            <a:ext cx="1058333" cy="762000"/>
          </a:xfrm>
          <a:prstGeom prst="roundRect">
            <a:avLst>
              <a:gd name="adj" fmla="val 8333"/>
            </a:avLst>
          </a:prstGeom>
          <a:solidFill>
            <a:srgbClr val="DC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785533" y="3822700"/>
            <a:ext cx="905933" cy="7620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625" b="0">
                <a:solidFill>
                  <a:srgbClr val="142433"/>
                </a:solidFill>
                <a:latin typeface="Inter"/>
              </a:rPr>
              <a:t>Family / client portal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831166" y="2197100"/>
            <a:ext cx="1058333" cy="381000"/>
          </a:xfrm>
          <a:prstGeom prst="roundRect">
            <a:avLst>
              <a:gd name="adj" fmla="val 16666"/>
            </a:avLst>
          </a:prstGeom>
          <a:solidFill>
            <a:srgbClr val="3569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869266" y="2197100"/>
            <a:ext cx="982133" cy="3810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Inter"/>
              </a:rPr>
              <a:t>3 · Intake review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831166" y="2628900"/>
            <a:ext cx="1058333" cy="1143000"/>
          </a:xfrm>
          <a:prstGeom prst="roundRect">
            <a:avLst>
              <a:gd name="adj" fmla="val 6000"/>
            </a:avLst>
          </a:prstGeom>
          <a:solidFill>
            <a:srgbClr val="DC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907366" y="2628900"/>
            <a:ext cx="905933" cy="11430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650" b="0">
                <a:solidFill>
                  <a:srgbClr val="142433"/>
                </a:solidFill>
                <a:latin typeface="Inter"/>
              </a:rPr>
              <a:t>One-screen client overview / summary.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831166" y="3822700"/>
            <a:ext cx="1058333" cy="762000"/>
          </a:xfrm>
          <a:prstGeom prst="roundRect">
            <a:avLst>
              <a:gd name="adj" fmla="val 8333"/>
            </a:avLst>
          </a:prstGeom>
          <a:solidFill>
            <a:srgbClr val="DC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907366" y="3822700"/>
            <a:ext cx="905933" cy="7620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625" b="0">
                <a:solidFill>
                  <a:srgbClr val="142433"/>
                </a:solidFill>
                <a:latin typeface="Inter"/>
              </a:rPr>
              <a:t>Clinician web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953000" y="2197100"/>
            <a:ext cx="1058333" cy="381000"/>
          </a:xfrm>
          <a:prstGeom prst="roundRect">
            <a:avLst>
              <a:gd name="adj" fmla="val 16666"/>
            </a:avLst>
          </a:prstGeom>
          <a:solidFill>
            <a:srgbClr val="C07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991100" y="2197100"/>
            <a:ext cx="982133" cy="3810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Inter"/>
              </a:rPr>
              <a:t>4 · Consult prep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953000" y="2628900"/>
            <a:ext cx="1058333" cy="1143000"/>
          </a:xfrm>
          <a:prstGeom prst="roundRect">
            <a:avLst>
              <a:gd name="adj" fmla="val 6000"/>
            </a:avLst>
          </a:prstGeom>
          <a:solidFill>
            <a:srgbClr val="F6E5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029200" y="2628900"/>
            <a:ext cx="905933" cy="11430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650" b="0">
                <a:solidFill>
                  <a:srgbClr val="142433"/>
                </a:solidFill>
                <a:latin typeface="Inter"/>
              </a:rPr>
              <a:t>AI prep brief — probes, red flags, references.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953000" y="3822700"/>
            <a:ext cx="1058333" cy="762000"/>
          </a:xfrm>
          <a:prstGeom prst="roundRect">
            <a:avLst>
              <a:gd name="adj" fmla="val 8333"/>
            </a:avLst>
          </a:prstGeom>
          <a:solidFill>
            <a:srgbClr val="F6E5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029200" y="3822700"/>
            <a:ext cx="905933" cy="7620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625" b="0">
                <a:solidFill>
                  <a:srgbClr val="142433"/>
                </a:solidFill>
                <a:latin typeface="Inter"/>
              </a:rPr>
              <a:t>Clinician web + AI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074833" y="2197100"/>
            <a:ext cx="1058333" cy="381000"/>
          </a:xfrm>
          <a:prstGeom prst="roundRect">
            <a:avLst>
              <a:gd name="adj" fmla="val 16666"/>
            </a:avLst>
          </a:prstGeom>
          <a:solidFill>
            <a:srgbClr val="C07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112933" y="2197100"/>
            <a:ext cx="982133" cy="3810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Inter"/>
              </a:rPr>
              <a:t>5 · Consultation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074833" y="2628900"/>
            <a:ext cx="1058333" cy="1143000"/>
          </a:xfrm>
          <a:prstGeom prst="roundRect">
            <a:avLst>
              <a:gd name="adj" fmla="val 6000"/>
            </a:avLst>
          </a:prstGeom>
          <a:solidFill>
            <a:srgbClr val="F6E5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151033" y="2628900"/>
            <a:ext cx="905933" cy="11430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650" b="0">
                <a:solidFill>
                  <a:srgbClr val="142433"/>
                </a:solidFill>
                <a:latin typeface="Inter"/>
              </a:rPr>
              <a:t>Schedule the consult + calendar / video links.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074833" y="3822700"/>
            <a:ext cx="1058333" cy="762000"/>
          </a:xfrm>
          <a:prstGeom prst="roundRect">
            <a:avLst>
              <a:gd name="adj" fmla="val 8333"/>
            </a:avLst>
          </a:prstGeom>
          <a:solidFill>
            <a:srgbClr val="F6E5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151033" y="3822700"/>
            <a:ext cx="905933" cy="7620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625" b="0">
                <a:solidFill>
                  <a:srgbClr val="142433"/>
                </a:solidFill>
                <a:latin typeface="Inter"/>
              </a:rPr>
              <a:t>Clinician web + calendar / video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196666" y="2197100"/>
            <a:ext cx="1058333" cy="381000"/>
          </a:xfrm>
          <a:prstGeom prst="roundRect">
            <a:avLst>
              <a:gd name="adj" fmla="val 16666"/>
            </a:avLst>
          </a:prstGeom>
          <a:solidFill>
            <a:srgbClr val="C07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234766" y="2197100"/>
            <a:ext cx="982133" cy="3810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Inter"/>
              </a:rPr>
              <a:t>6 · Triage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7196666" y="2628900"/>
            <a:ext cx="1058333" cy="1143000"/>
          </a:xfrm>
          <a:prstGeom prst="roundRect">
            <a:avLst>
              <a:gd name="adj" fmla="val 6000"/>
            </a:avLst>
          </a:prstGeom>
          <a:solidFill>
            <a:srgbClr val="F6E5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272866" y="2628900"/>
            <a:ext cx="905933" cy="11430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650" b="0">
                <a:solidFill>
                  <a:srgbClr val="142433"/>
                </a:solidFill>
                <a:latin typeface="Inter"/>
              </a:rPr>
              <a:t>Capture triage outcome + rationale.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7196666" y="3822700"/>
            <a:ext cx="1058333" cy="762000"/>
          </a:xfrm>
          <a:prstGeom prst="roundRect">
            <a:avLst>
              <a:gd name="adj" fmla="val 8333"/>
            </a:avLst>
          </a:prstGeom>
          <a:solidFill>
            <a:srgbClr val="F6E5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272866" y="3822700"/>
            <a:ext cx="905933" cy="7620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625" b="0">
                <a:solidFill>
                  <a:srgbClr val="142433"/>
                </a:solidFill>
                <a:latin typeface="Inter"/>
              </a:rPr>
              <a:t>Clinician web — triage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8318499" y="2197100"/>
            <a:ext cx="1058333" cy="381000"/>
          </a:xfrm>
          <a:prstGeom prst="roundRect">
            <a:avLst>
              <a:gd name="adj" fmla="val 16666"/>
            </a:avLst>
          </a:prstGeom>
          <a:solidFill>
            <a:srgbClr val="6E5A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356600" y="2197100"/>
            <a:ext cx="982133" cy="3810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Inter"/>
              </a:rPr>
              <a:t>7 · Session plan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318499" y="2628900"/>
            <a:ext cx="1058333" cy="1143000"/>
          </a:xfrm>
          <a:prstGeom prst="roundRect">
            <a:avLst>
              <a:gd name="adj" fmla="val 6000"/>
            </a:avLst>
          </a:prstGeom>
          <a:solidFill>
            <a:srgbClr val="E8E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394700" y="2628900"/>
            <a:ext cx="905933" cy="11430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650" b="0">
                <a:solidFill>
                  <a:srgbClr val="142433"/>
                </a:solidFill>
                <a:latin typeface="Inter"/>
              </a:rPr>
              <a:t>AI-drafted, clinician-edited session plan.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8318499" y="3822700"/>
            <a:ext cx="1058333" cy="762000"/>
          </a:xfrm>
          <a:prstGeom prst="roundRect">
            <a:avLst>
              <a:gd name="adj" fmla="val 8333"/>
            </a:avLst>
          </a:prstGeom>
          <a:solidFill>
            <a:srgbClr val="E8E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394700" y="3822700"/>
            <a:ext cx="905933" cy="7620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625" b="0">
                <a:solidFill>
                  <a:srgbClr val="142433"/>
                </a:solidFill>
                <a:latin typeface="Inter"/>
              </a:rPr>
              <a:t>Clinician web + AI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9440333" y="2197100"/>
            <a:ext cx="1058333" cy="381000"/>
          </a:xfrm>
          <a:prstGeom prst="roundRect">
            <a:avLst>
              <a:gd name="adj" fmla="val 16666"/>
            </a:avLst>
          </a:prstGeom>
          <a:solidFill>
            <a:srgbClr val="6E5A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478433" y="2197100"/>
            <a:ext cx="982133" cy="3810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Inter"/>
              </a:rPr>
              <a:t>8 · Family summary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9440333" y="2628900"/>
            <a:ext cx="1058333" cy="1143000"/>
          </a:xfrm>
          <a:prstGeom prst="roundRect">
            <a:avLst>
              <a:gd name="adj" fmla="val 6000"/>
            </a:avLst>
          </a:prstGeom>
          <a:solidFill>
            <a:srgbClr val="E8E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516533" y="2628900"/>
            <a:ext cx="905933" cy="11430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650" b="0">
                <a:solidFill>
                  <a:srgbClr val="142433"/>
                </a:solidFill>
                <a:latin typeface="Inter"/>
              </a:rPr>
              <a:t>Tone / reading-level client summary via portal.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9440333" y="3822700"/>
            <a:ext cx="1058333" cy="762000"/>
          </a:xfrm>
          <a:prstGeom prst="roundRect">
            <a:avLst>
              <a:gd name="adj" fmla="val 8333"/>
            </a:avLst>
          </a:prstGeom>
          <a:solidFill>
            <a:srgbClr val="E8E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516533" y="3822700"/>
            <a:ext cx="905933" cy="7620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625" b="0">
                <a:solidFill>
                  <a:srgbClr val="142433"/>
                </a:solidFill>
                <a:latin typeface="Inter"/>
              </a:rPr>
              <a:t>Client app / portal + AI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10562166" y="2197100"/>
            <a:ext cx="1058333" cy="381000"/>
          </a:xfrm>
          <a:prstGeom prst="roundRect">
            <a:avLst>
              <a:gd name="adj" fmla="val 16666"/>
            </a:avLst>
          </a:prstGeom>
          <a:solidFill>
            <a:srgbClr val="4C8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0600266" y="2197100"/>
            <a:ext cx="982133" cy="3810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Inter"/>
              </a:rPr>
              <a:t>9 · Carryover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10562166" y="2628900"/>
            <a:ext cx="1058333" cy="1143000"/>
          </a:xfrm>
          <a:prstGeom prst="roundRect">
            <a:avLst>
              <a:gd name="adj" fmla="val 6000"/>
            </a:avLst>
          </a:prstGeom>
          <a:solidFill>
            <a:srgbClr val="DCEB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0638366" y="2628900"/>
            <a:ext cx="905933" cy="11430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650" b="0">
                <a:solidFill>
                  <a:srgbClr val="142433"/>
                </a:solidFill>
                <a:latin typeface="Inter"/>
              </a:rPr>
              <a:t>Resources, progress portal &amp; report loop.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10562166" y="3822700"/>
            <a:ext cx="1058333" cy="762000"/>
          </a:xfrm>
          <a:prstGeom prst="roundRect">
            <a:avLst>
              <a:gd name="adj" fmla="val 8333"/>
            </a:avLst>
          </a:prstGeom>
          <a:solidFill>
            <a:srgbClr val="DCEB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10638366" y="3822700"/>
            <a:ext cx="905933" cy="7620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625" b="0">
                <a:solidFill>
                  <a:srgbClr val="142433"/>
                </a:solidFill>
                <a:latin typeface="Inter"/>
              </a:rPr>
              <a:t>Client app + clinician web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71500" y="4902200"/>
            <a:ext cx="5715000" cy="152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1">
                <a:solidFill>
                  <a:srgbClr val="8597A4"/>
                </a:solidFill>
                <a:latin typeface="Inter"/>
              </a:rPr>
              <a:t>WHERE SONA WINS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571500" y="5118100"/>
            <a:ext cx="2667000" cy="520700"/>
          </a:xfrm>
          <a:prstGeom prst="roundRect">
            <a:avLst>
              <a:gd name="adj" fmla="val 14634"/>
            </a:avLst>
          </a:prstGeom>
          <a:solidFill>
            <a:srgbClr val="E6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73100" y="5118100"/>
            <a:ext cx="2463800" cy="5207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750" b="1">
                <a:solidFill>
                  <a:srgbClr val="2D6A6E"/>
                </a:solidFill>
                <a:latin typeface="Inter"/>
              </a:rPr>
              <a:t>Own the first 30 days as one reviewed loop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3365500" y="5118100"/>
            <a:ext cx="2667000" cy="520700"/>
          </a:xfrm>
          <a:prstGeom prst="roundRect">
            <a:avLst>
              <a:gd name="adj" fmla="val 14634"/>
            </a:avLst>
          </a:prstGeom>
          <a:solidFill>
            <a:srgbClr val="E6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3467100" y="5118100"/>
            <a:ext cx="2463800" cy="5207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750" b="1">
                <a:solidFill>
                  <a:srgbClr val="2D6A6E"/>
                </a:solidFill>
                <a:latin typeface="Inter"/>
              </a:rPr>
              <a:t>Trust is the moat — clinician signs every AI draft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6159500" y="5118100"/>
            <a:ext cx="2667000" cy="520700"/>
          </a:xfrm>
          <a:prstGeom prst="roundRect">
            <a:avLst>
              <a:gd name="adj" fmla="val 14634"/>
            </a:avLst>
          </a:prstGeom>
          <a:solidFill>
            <a:srgbClr val="E6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261100" y="5118100"/>
            <a:ext cx="2463800" cy="5207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750" b="1">
                <a:solidFill>
                  <a:srgbClr val="2D6A6E"/>
                </a:solidFill>
                <a:latin typeface="Inter"/>
              </a:rPr>
              <a:t>Start paediatric, then generalise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8953500" y="5118100"/>
            <a:ext cx="2667000" cy="520700"/>
          </a:xfrm>
          <a:prstGeom prst="roundRect">
            <a:avLst>
              <a:gd name="adj" fmla="val 14634"/>
            </a:avLst>
          </a:prstGeom>
          <a:solidFill>
            <a:srgbClr val="E6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9055100" y="5118100"/>
            <a:ext cx="2463800" cy="5207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750" b="1">
                <a:solidFill>
                  <a:srgbClr val="2D6A6E"/>
                </a:solidFill>
                <a:latin typeface="Inter"/>
              </a:rPr>
              <a:t>UK data residency + clinical audit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71500" y="6388100"/>
            <a:ext cx="11049000" cy="1397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0"/>
              </a:spcAft>
            </a:pPr>
            <a:r>
              <a:rPr sz="625" b="0">
                <a:solidFill>
                  <a:srgbClr val="8597A4"/>
                </a:solidFill>
                <a:latin typeface="Inter"/>
              </a:rPr>
              <a:t>Colour groups the nine stages into their five phases.   ·   Generalized across SLTs (Pediatric &amp; Adult).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71500" y="6604000"/>
            <a:ext cx="5715000" cy="1397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0"/>
              </a:spcAft>
            </a:pPr>
            <a:r>
              <a:rPr sz="600" b="0">
                <a:solidFill>
                  <a:srgbClr val="8597A4"/>
                </a:solidFill>
                <a:latin typeface="Inter"/>
              </a:rPr>
              <a:t>Sona — Care Journey &amp; Product Overview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414000" y="6604000"/>
            <a:ext cx="1206500" cy="1397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0"/>
              </a:spcAft>
            </a:pPr>
            <a:r>
              <a:rPr sz="600" b="0">
                <a:solidFill>
                  <a:srgbClr val="8597A4"/>
                </a:solidFill>
                <a:latin typeface="Inter"/>
              </a:rPr>
              <a:t>3 /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71500" y="406400"/>
            <a:ext cx="5715000" cy="1651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>
                <a:solidFill>
                  <a:srgbClr val="8597A4"/>
                </a:solidFill>
                <a:latin typeface="Inter"/>
              </a:rPr>
              <a:t>PROCESS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571500"/>
            <a:ext cx="9525000" cy="3810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2D6A6E"/>
                </a:solidFill>
                <a:latin typeface="Inter"/>
              </a:rPr>
              <a:t>How the journey runs with Sona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1500" y="1003300"/>
            <a:ext cx="10922000" cy="2540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4A5B6B"/>
                </a:solidFill>
                <a:latin typeface="Inter"/>
              </a:rPr>
              <a:t>A swimlane map of the proposed process.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0" y="1473200"/>
            <a:ext cx="10439400" cy="124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1000" y="1473200"/>
            <a:ext cx="990599" cy="1244600"/>
          </a:xfrm>
          <a:prstGeom prst="rect">
            <a:avLst/>
          </a:prstGeom>
          <a:solidFill>
            <a:srgbClr val="C98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 rot="16200000">
            <a:off x="381000" y="1473200"/>
            <a:ext cx="990599" cy="1244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700" b="1">
                <a:solidFill>
                  <a:srgbClr val="FFFFFF"/>
                </a:solidFill>
                <a:latin typeface="Inter"/>
              </a:rPr>
              <a:t>Client / Parent / Carer</a:t>
            </a:r>
          </a:p>
        </p:txBody>
      </p:sp>
      <p:sp>
        <p:nvSpPr>
          <p:cNvPr id="9" name="Rectangle 8"/>
          <p:cNvSpPr/>
          <p:nvPr/>
        </p:nvSpPr>
        <p:spPr>
          <a:xfrm>
            <a:off x="1371600" y="2717800"/>
            <a:ext cx="10439400" cy="1244600"/>
          </a:xfrm>
          <a:prstGeom prst="rect">
            <a:avLst/>
          </a:prstGeom>
          <a:solidFill>
            <a:srgbClr val="F3F6F6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81000" y="2717800"/>
            <a:ext cx="990599" cy="1244600"/>
          </a:xfrm>
          <a:prstGeom prst="rect">
            <a:avLst/>
          </a:prstGeom>
          <a:solidFill>
            <a:srgbClr val="2D6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 rot="16200000">
            <a:off x="381000" y="2717800"/>
            <a:ext cx="990599" cy="1244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700" b="1">
                <a:solidFill>
                  <a:srgbClr val="FFFFFF"/>
                </a:solidFill>
                <a:latin typeface="Inter"/>
              </a:rPr>
              <a:t>Clinician / SLT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371600" y="3962399"/>
            <a:ext cx="10439400" cy="124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81000" y="3962399"/>
            <a:ext cx="990599" cy="1244600"/>
          </a:xfrm>
          <a:prstGeom prst="rect">
            <a:avLst/>
          </a:prstGeom>
          <a:solidFill>
            <a:srgbClr val="3569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 rot="16200000">
            <a:off x="381000" y="3962399"/>
            <a:ext cx="990599" cy="1244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700" b="1">
                <a:solidFill>
                  <a:srgbClr val="FFFFFF"/>
                </a:solidFill>
                <a:latin typeface="Inter"/>
              </a:rPr>
              <a:t>Sona  (app &amp; AI)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371600" y="5207000"/>
            <a:ext cx="10439400" cy="1244600"/>
          </a:xfrm>
          <a:prstGeom prst="rect">
            <a:avLst/>
          </a:prstGeom>
          <a:solidFill>
            <a:srgbClr val="F3F6F6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81000" y="5207000"/>
            <a:ext cx="990599" cy="1244600"/>
          </a:xfrm>
          <a:prstGeom prst="rect">
            <a:avLst/>
          </a:prstGeom>
          <a:solidFill>
            <a:srgbClr val="4C8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 rot="16200000">
            <a:off x="381000" y="5207000"/>
            <a:ext cx="990599" cy="1244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700" b="1">
                <a:solidFill>
                  <a:srgbClr val="FFFFFF"/>
                </a:solidFill>
                <a:latin typeface="Inter"/>
              </a:rPr>
              <a:t>External  (calendar · PMS)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435100" y="1854200"/>
            <a:ext cx="1041400" cy="4826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98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98600" y="1854200"/>
            <a:ext cx="914400" cy="4826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625" b="1">
                <a:solidFill>
                  <a:srgbClr val="142433"/>
                </a:solidFill>
                <a:latin typeface="Inter"/>
              </a:rPr>
              <a:t>Enquiry arrives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775950" y="1854200"/>
            <a:ext cx="952500" cy="4826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98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839450" y="1854200"/>
            <a:ext cx="825500" cy="4826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625" b="1">
                <a:solidFill>
                  <a:srgbClr val="142433"/>
                </a:solidFill>
                <a:latin typeface="Inter"/>
              </a:rPr>
              <a:t>Ongoing care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540000" y="1873250"/>
            <a:ext cx="1016000" cy="444500"/>
          </a:xfrm>
          <a:prstGeom prst="roundRect">
            <a:avLst>
              <a:gd name="adj" fmla="val 17142"/>
            </a:avLst>
          </a:prstGeom>
          <a:solidFill>
            <a:srgbClr val="E6F0F0"/>
          </a:solidFill>
          <a:ln w="12700">
            <a:solidFill>
              <a:srgbClr val="2D6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603500" y="1873250"/>
            <a:ext cx="889000" cy="4445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625" b="0">
                <a:solidFill>
                  <a:srgbClr val="142433"/>
                </a:solidFill>
                <a:latin typeface="Inter"/>
              </a:rPr>
              <a:t>Complete intake &amp; consent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626600" y="1873250"/>
            <a:ext cx="1016000" cy="444500"/>
          </a:xfrm>
          <a:prstGeom prst="roundRect">
            <a:avLst>
              <a:gd name="adj" fmla="val 17142"/>
            </a:avLst>
          </a:prstGeom>
          <a:solidFill>
            <a:srgbClr val="E6F0F0"/>
          </a:solidFill>
          <a:ln w="12700">
            <a:solidFill>
              <a:srgbClr val="2D6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90100" y="1873250"/>
            <a:ext cx="889000" cy="4445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625" b="0">
                <a:solidFill>
                  <a:srgbClr val="142433"/>
                </a:solidFill>
                <a:latin typeface="Inter"/>
              </a:rPr>
              <a:t>Receive summary (app)</a:t>
            </a:r>
          </a:p>
        </p:txBody>
      </p:sp>
      <p:sp>
        <p:nvSpPr>
          <p:cNvPr id="26" name="Diamond 25"/>
          <p:cNvSpPr/>
          <p:nvPr/>
        </p:nvSpPr>
        <p:spPr>
          <a:xfrm>
            <a:off x="6038850" y="3009900"/>
            <a:ext cx="1092200" cy="660400"/>
          </a:xfrm>
          <a:prstGeom prst="diamond">
            <a:avLst/>
          </a:prstGeom>
          <a:solidFill>
            <a:srgbClr val="FFF0E6"/>
          </a:solidFill>
          <a:ln w="19050">
            <a:solidFill>
              <a:srgbClr val="C45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25400" bIns="25400">
            <a:normAutofit/>
          </a:bodyPr>
          <a:lstStyle/>
          <a:p>
            <a:pPr algn="ctr"/>
            <a:r>
              <a:rPr sz="625" b="1">
                <a:solidFill>
                  <a:srgbClr val="142433"/>
                </a:solidFill>
                <a:latin typeface="Inter"/>
              </a:rPr>
              <a:t>Ongoing therapy?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613150" y="3117850"/>
            <a:ext cx="1016000" cy="444500"/>
          </a:xfrm>
          <a:prstGeom prst="roundRect">
            <a:avLst>
              <a:gd name="adj" fmla="val 17142"/>
            </a:avLst>
          </a:prstGeom>
          <a:solidFill>
            <a:srgbClr val="E6F0F0"/>
          </a:solidFill>
          <a:ln w="12700">
            <a:solidFill>
              <a:srgbClr val="2D6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6649" y="3117850"/>
            <a:ext cx="889000" cy="4445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625" b="0">
                <a:solidFill>
                  <a:srgbClr val="142433"/>
                </a:solidFill>
                <a:latin typeface="Inter"/>
              </a:rPr>
              <a:t>Review overview + prep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826000" y="3117850"/>
            <a:ext cx="1016000" cy="444500"/>
          </a:xfrm>
          <a:prstGeom prst="roundRect">
            <a:avLst>
              <a:gd name="adj" fmla="val 17142"/>
            </a:avLst>
          </a:prstGeom>
          <a:solidFill>
            <a:srgbClr val="E6F0F0"/>
          </a:solidFill>
          <a:ln w="12700">
            <a:solidFill>
              <a:srgbClr val="2D6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889500" y="3117850"/>
            <a:ext cx="889000" cy="4445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625" b="0">
                <a:solidFill>
                  <a:srgbClr val="142433"/>
                </a:solidFill>
                <a:latin typeface="Inter"/>
              </a:rPr>
              <a:t>Consultation (~20 min)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454900" y="3117850"/>
            <a:ext cx="1016000" cy="444500"/>
          </a:xfrm>
          <a:prstGeom prst="roundRect">
            <a:avLst>
              <a:gd name="adj" fmla="val 17142"/>
            </a:avLst>
          </a:prstGeom>
          <a:solidFill>
            <a:srgbClr val="E6F0F0"/>
          </a:solidFill>
          <a:ln w="12700">
            <a:solidFill>
              <a:srgbClr val="2D6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518399" y="3117850"/>
            <a:ext cx="889000" cy="4445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625" b="0">
                <a:solidFill>
                  <a:srgbClr val="142433"/>
                </a:solidFill>
                <a:latin typeface="Inter"/>
              </a:rPr>
              <a:t>Strategy advice &amp; home tips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940800" y="3117850"/>
            <a:ext cx="1016000" cy="444500"/>
          </a:xfrm>
          <a:prstGeom prst="roundRect">
            <a:avLst>
              <a:gd name="adj" fmla="val 17142"/>
            </a:avLst>
          </a:prstGeom>
          <a:solidFill>
            <a:srgbClr val="E6F0F0"/>
          </a:solidFill>
          <a:ln w="12700">
            <a:solidFill>
              <a:srgbClr val="2D6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004300" y="3117850"/>
            <a:ext cx="889000" cy="4445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625" b="0">
                <a:solidFill>
                  <a:srgbClr val="142433"/>
                </a:solidFill>
                <a:latin typeface="Inter"/>
              </a:rPr>
              <a:t>Edit &amp; sign plan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083800" y="3117850"/>
            <a:ext cx="1016000" cy="444500"/>
          </a:xfrm>
          <a:prstGeom prst="roundRect">
            <a:avLst>
              <a:gd name="adj" fmla="val 17142"/>
            </a:avLst>
          </a:prstGeom>
          <a:solidFill>
            <a:srgbClr val="E6F0F0"/>
          </a:solidFill>
          <a:ln w="12700">
            <a:solidFill>
              <a:srgbClr val="2D6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147300" y="3117850"/>
            <a:ext cx="889000" cy="4445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625" b="0">
                <a:solidFill>
                  <a:srgbClr val="142433"/>
                </a:solidFill>
                <a:latin typeface="Inter"/>
              </a:rPr>
              <a:t>Review &amp; send summary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435100" y="4362450"/>
            <a:ext cx="1016000" cy="444500"/>
          </a:xfrm>
          <a:prstGeom prst="roundRect">
            <a:avLst>
              <a:gd name="adj" fmla="val 17142"/>
            </a:avLst>
          </a:prstGeom>
          <a:solidFill>
            <a:srgbClr val="E6F0F0"/>
          </a:solidFill>
          <a:ln w="12700">
            <a:solidFill>
              <a:srgbClr val="2D6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498600" y="4362450"/>
            <a:ext cx="889000" cy="4445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625" b="0">
                <a:solidFill>
                  <a:srgbClr val="142433"/>
                </a:solidFill>
                <a:latin typeface="Inter"/>
              </a:rPr>
              <a:t>Capture enquiry + smart intake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762250" y="4362450"/>
            <a:ext cx="1016000" cy="444500"/>
          </a:xfrm>
          <a:prstGeom prst="roundRect">
            <a:avLst>
              <a:gd name="adj" fmla="val 17142"/>
            </a:avLst>
          </a:prstGeom>
          <a:solidFill>
            <a:srgbClr val="E6F0F0"/>
          </a:solidFill>
          <a:ln w="12700">
            <a:solidFill>
              <a:srgbClr val="2D6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825750" y="4362450"/>
            <a:ext cx="889000" cy="4445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625" b="0">
                <a:solidFill>
                  <a:srgbClr val="142433"/>
                </a:solidFill>
                <a:latin typeface="Inter"/>
              </a:rPr>
              <a:t>AI prep brief (DRAFT)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188200" y="4362450"/>
            <a:ext cx="1016000" cy="444500"/>
          </a:xfrm>
          <a:prstGeom prst="roundRect">
            <a:avLst>
              <a:gd name="adj" fmla="val 17142"/>
            </a:avLst>
          </a:prstGeom>
          <a:solidFill>
            <a:srgbClr val="E6F0F0"/>
          </a:solidFill>
          <a:ln w="12700">
            <a:solidFill>
              <a:srgbClr val="2D6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251700" y="4362450"/>
            <a:ext cx="889000" cy="4445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625" b="0">
                <a:solidFill>
                  <a:srgbClr val="142433"/>
                </a:solidFill>
                <a:latin typeface="Inter"/>
              </a:rPr>
              <a:t>AI session plan (DRAFT)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118600" y="4362450"/>
            <a:ext cx="1016000" cy="444500"/>
          </a:xfrm>
          <a:prstGeom prst="roundRect">
            <a:avLst>
              <a:gd name="adj" fmla="val 17142"/>
            </a:avLst>
          </a:prstGeom>
          <a:solidFill>
            <a:srgbClr val="E6F0F0"/>
          </a:solidFill>
          <a:ln w="12700">
            <a:solidFill>
              <a:srgbClr val="2D6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82100" y="4362450"/>
            <a:ext cx="889000" cy="4445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625" b="0">
                <a:solidFill>
                  <a:srgbClr val="142433"/>
                </a:solidFill>
                <a:latin typeface="Inter"/>
              </a:rPr>
              <a:t>AI family summary (DRAFT)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0363200" y="4362450"/>
            <a:ext cx="1016000" cy="444500"/>
          </a:xfrm>
          <a:prstGeom prst="roundRect">
            <a:avLst>
              <a:gd name="adj" fmla="val 17142"/>
            </a:avLst>
          </a:prstGeom>
          <a:solidFill>
            <a:srgbClr val="E6F0F0"/>
          </a:solidFill>
          <a:ln w="12700">
            <a:solidFill>
              <a:srgbClr val="2D6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426700" y="4362450"/>
            <a:ext cx="889000" cy="4445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625" b="0">
                <a:solidFill>
                  <a:srgbClr val="142433"/>
                </a:solidFill>
                <a:latin typeface="Inter"/>
              </a:rPr>
              <a:t>Carryover + progress portal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292600" y="5607050"/>
            <a:ext cx="1016000" cy="444500"/>
          </a:xfrm>
          <a:prstGeom prst="roundRect">
            <a:avLst>
              <a:gd name="adj" fmla="val 17142"/>
            </a:avLst>
          </a:prstGeom>
          <a:solidFill>
            <a:srgbClr val="E6F0F0"/>
          </a:solidFill>
          <a:ln w="12700">
            <a:solidFill>
              <a:srgbClr val="2D6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356100" y="5607050"/>
            <a:ext cx="889000" cy="4445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625" b="0">
                <a:solidFill>
                  <a:srgbClr val="142433"/>
                </a:solidFill>
                <a:latin typeface="Inter"/>
              </a:rPr>
              <a:t>Calendar / video link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0363200" y="5613400"/>
            <a:ext cx="1016000" cy="444500"/>
          </a:xfrm>
          <a:prstGeom prst="roundRect">
            <a:avLst>
              <a:gd name="adj" fmla="val 17142"/>
            </a:avLst>
          </a:prstGeom>
          <a:solidFill>
            <a:srgbClr val="E6F0F0"/>
          </a:solidFill>
          <a:ln w="12700">
            <a:solidFill>
              <a:srgbClr val="2D6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426700" y="5613400"/>
            <a:ext cx="889000" cy="4445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625" b="0">
                <a:solidFill>
                  <a:srgbClr val="142433"/>
                </a:solidFill>
                <a:latin typeface="Inter"/>
              </a:rPr>
              <a:t>PMS sync (vision)</a:t>
            </a:r>
          </a:p>
        </p:txBody>
      </p:sp>
      <p:cxnSp>
        <p:nvCxnSpPr>
          <p:cNvPr id="51" name="Connector 50"/>
          <p:cNvCxnSpPr/>
          <p:nvPr/>
        </p:nvCxnSpPr>
        <p:spPr>
          <a:xfrm flipH="1">
            <a:off x="1943100" y="2336800"/>
            <a:ext cx="12700" cy="2025650"/>
          </a:xfrm>
          <a:prstGeom prst="bentConnector3">
            <a:avLst/>
          </a:prstGeom>
          <a:ln w="15875">
            <a:solidFill>
              <a:srgbClr val="9AA7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1943100" y="2317750"/>
            <a:ext cx="1104900" cy="2044700"/>
          </a:xfrm>
          <a:prstGeom prst="bentConnector3">
            <a:avLst/>
          </a:prstGeom>
          <a:ln w="15875">
            <a:solidFill>
              <a:srgbClr val="9AA7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3048000" y="2317750"/>
            <a:ext cx="222250" cy="2044700"/>
          </a:xfrm>
          <a:prstGeom prst="bentConnector3">
            <a:avLst/>
          </a:prstGeom>
          <a:ln w="15875">
            <a:solidFill>
              <a:srgbClr val="9AA7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3270250" y="3562350"/>
            <a:ext cx="850900" cy="800100"/>
          </a:xfrm>
          <a:prstGeom prst="bentConnector3">
            <a:avLst/>
          </a:prstGeom>
          <a:ln w="15875">
            <a:solidFill>
              <a:srgbClr val="9AA7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4800600" y="3562350"/>
            <a:ext cx="533400" cy="2044700"/>
          </a:xfrm>
          <a:prstGeom prst="bentConnector3">
            <a:avLst/>
          </a:prstGeom>
          <a:ln w="15875">
            <a:solidFill>
              <a:srgbClr val="9AA7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4629150" y="3340100"/>
            <a:ext cx="196850" cy="0"/>
          </a:xfrm>
          <a:prstGeom prst="bentConnector3">
            <a:avLst/>
          </a:prstGeom>
          <a:ln w="15875">
            <a:solidFill>
              <a:srgbClr val="9AA7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5842000" y="3340100"/>
            <a:ext cx="196850" cy="0"/>
          </a:xfrm>
          <a:prstGeom prst="bentConnector3">
            <a:avLst/>
          </a:prstGeom>
          <a:ln w="15875">
            <a:solidFill>
              <a:srgbClr val="9AA7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6584950" y="3670300"/>
            <a:ext cx="1111249" cy="692150"/>
          </a:xfrm>
          <a:prstGeom prst="bentConnector3">
            <a:avLst/>
          </a:prstGeom>
          <a:ln w="15875">
            <a:solidFill>
              <a:srgbClr val="9AA7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6950075" y="3876674"/>
            <a:ext cx="381000" cy="1397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00" b="1">
                <a:solidFill>
                  <a:srgbClr val="4A5B6B"/>
                </a:solidFill>
                <a:latin typeface="Inter"/>
              </a:rPr>
              <a:t>Yes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7131050" y="3340100"/>
            <a:ext cx="323850" cy="0"/>
          </a:xfrm>
          <a:prstGeom prst="bentConnector3">
            <a:avLst/>
          </a:prstGeom>
          <a:ln w="15875">
            <a:solidFill>
              <a:srgbClr val="9AA7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7102475" y="3200400"/>
            <a:ext cx="381000" cy="1397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00" b="1">
                <a:solidFill>
                  <a:srgbClr val="4A5B6B"/>
                </a:solidFill>
                <a:latin typeface="Inter"/>
              </a:rPr>
              <a:t>No</a:t>
            </a:r>
          </a:p>
        </p:txBody>
      </p:sp>
      <p:cxnSp>
        <p:nvCxnSpPr>
          <p:cNvPr id="62" name="Connector 61"/>
          <p:cNvCxnSpPr/>
          <p:nvPr/>
        </p:nvCxnSpPr>
        <p:spPr>
          <a:xfrm flipV="1">
            <a:off x="8204199" y="3340100"/>
            <a:ext cx="736601" cy="1244600"/>
          </a:xfrm>
          <a:prstGeom prst="bentConnector3">
            <a:avLst/>
          </a:prstGeom>
          <a:ln w="15875">
            <a:solidFill>
              <a:srgbClr val="9AA7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9448800" y="3562350"/>
            <a:ext cx="177800" cy="800100"/>
          </a:xfrm>
          <a:prstGeom prst="bentConnector3">
            <a:avLst/>
          </a:prstGeom>
          <a:ln w="15875">
            <a:solidFill>
              <a:srgbClr val="9AA7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8470900" y="3340100"/>
            <a:ext cx="647700" cy="1244600"/>
          </a:xfrm>
          <a:prstGeom prst="bentConnector3">
            <a:avLst/>
          </a:prstGeom>
          <a:ln w="15875">
            <a:solidFill>
              <a:srgbClr val="9AA7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9626600" y="3562350"/>
            <a:ext cx="965200" cy="800100"/>
          </a:xfrm>
          <a:prstGeom prst="bentConnector3">
            <a:avLst/>
          </a:prstGeom>
          <a:ln w="15875">
            <a:solidFill>
              <a:srgbClr val="9AA7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H="1" flipV="1">
            <a:off x="10134600" y="2317750"/>
            <a:ext cx="457200" cy="800100"/>
          </a:xfrm>
          <a:prstGeom prst="bentConnector3">
            <a:avLst/>
          </a:prstGeom>
          <a:ln w="15875">
            <a:solidFill>
              <a:srgbClr val="9AA7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10591800" y="3562350"/>
            <a:ext cx="279400" cy="800100"/>
          </a:xfrm>
          <a:prstGeom prst="bentConnector3">
            <a:avLst/>
          </a:prstGeom>
          <a:ln w="15875">
            <a:solidFill>
              <a:srgbClr val="9AA7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10642600" y="2095499"/>
            <a:ext cx="133350" cy="0"/>
          </a:xfrm>
          <a:prstGeom prst="bentConnector3">
            <a:avLst/>
          </a:prstGeom>
          <a:ln w="15875">
            <a:solidFill>
              <a:srgbClr val="9AA7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10871200" y="4806950"/>
            <a:ext cx="0" cy="806450"/>
          </a:xfrm>
          <a:prstGeom prst="bentConnector3">
            <a:avLst/>
          </a:prstGeom>
          <a:ln w="15875">
            <a:solidFill>
              <a:srgbClr val="9AA7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1371600" y="6464300"/>
            <a:ext cx="11049000" cy="1397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0"/>
              </a:spcAft>
            </a:pPr>
            <a:r>
              <a:rPr sz="625" b="0">
                <a:solidFill>
                  <a:srgbClr val="8597A4"/>
                </a:solidFill>
                <a:latin typeface="Inter"/>
              </a:rPr>
              <a:t>Shapes:  rounded = task   ·   diamond = decision   ·   pill = start / end.    DRAFT = AI artifact the clinician reviews &amp; signs.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71500" y="6654800"/>
            <a:ext cx="5715000" cy="1397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0"/>
              </a:spcAft>
            </a:pPr>
            <a:r>
              <a:rPr sz="600" b="0">
                <a:solidFill>
                  <a:srgbClr val="8597A4"/>
                </a:solidFill>
                <a:latin typeface="Inter"/>
              </a:rPr>
              <a:t>Sona — Care Journey &amp; Product Overview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414000" y="6654800"/>
            <a:ext cx="1206500" cy="1397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0"/>
              </a:spcAft>
            </a:pPr>
            <a:r>
              <a:rPr sz="600" b="0">
                <a:solidFill>
                  <a:srgbClr val="8597A4"/>
                </a:solidFill>
                <a:latin typeface="Inter"/>
              </a:rPr>
              <a:t>4 / 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