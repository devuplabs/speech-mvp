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95299"/>
            <a:ext cx="5715000" cy="215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597A4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749300"/>
            <a:ext cx="10922000" cy="635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D6A6E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498600"/>
            <a:ext cx="10541000" cy="609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5B6B"/>
                </a:solidFill>
                <a:latin typeface="Inter"/>
              </a:rPr>
              <a:t>An AI practice partner that reduces admin burnout in UK private Speech &amp; Language Therapy (SLT), giving clinicians more productive time for care across a client's first 30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700" y="2324100"/>
            <a:ext cx="10160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334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D6A6E"/>
                </a:solidFill>
                <a:latin typeface="Inter"/>
              </a:rPr>
              <a:t>WHAT IS SONA?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035300"/>
            <a:ext cx="5270500" cy="2667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42433"/>
                </a:solidFill>
                <a:latin typeface="Inter"/>
              </a:rPr>
              <a:t>Sona is an AI practice partner for UK private Speech &amp; Language Therapy (SLT).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700" b="0">
                <a:solidFill>
                  <a:srgbClr val="142433"/>
                </a:solidFill>
                <a:latin typeface="Inter"/>
              </a:rPr>
              <a:t>It does the repetitive admin alongside the clinician: intake, consult prep, triage, the first session plan and family summary, all as drafts the clinician reviews.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700" b="0">
                <a:solidFill>
                  <a:srgbClr val="142433"/>
                </a:solidFill>
                <a:latin typeface="Inter"/>
              </a:rPr>
              <a:t>Sona augments clinicians; it increases human productivity: less admin burnout, more time for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6800" y="2667000"/>
            <a:ext cx="12700" cy="30861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1600" y="2654300"/>
            <a:ext cx="5207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D6A6E"/>
                </a:solidFill>
                <a:latin typeface="Inter"/>
              </a:rPr>
              <a:t>HOW TO READ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035300"/>
            <a:ext cx="5207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5B6B"/>
                </a:solidFill>
                <a:latin typeface="Inter"/>
              </a:rPr>
              <a:t>Three views, read left → right: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1600" y="3429000"/>
            <a:ext cx="546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D6A6E"/>
                </a:solidFill>
                <a:latin typeface="Inter"/>
              </a:rPr>
              <a:t>Executive</a:t>
            </a:r>
            <a:r>
              <a:rPr sz="2000" b="0">
                <a:solidFill>
                  <a:srgbClr val="142433"/>
                </a:solidFill>
                <a:latin typeface="Inter"/>
              </a:rPr>
              <a:t>:  the journey &amp; the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1600" y="3848099"/>
            <a:ext cx="546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D6A6E"/>
                </a:solidFill>
                <a:latin typeface="Inter"/>
              </a:rPr>
              <a:t>Product</a:t>
            </a:r>
            <a:r>
              <a:rPr sz="2000" b="0">
                <a:solidFill>
                  <a:srgbClr val="142433"/>
                </a:solidFill>
                <a:latin typeface="Inter"/>
              </a:rPr>
              <a:t>:  the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600" y="4267200"/>
            <a:ext cx="546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D6A6E"/>
                </a:solidFill>
                <a:latin typeface="Inter"/>
              </a:rPr>
              <a:t>Process flow</a:t>
            </a:r>
            <a:r>
              <a:rPr sz="2000" b="0">
                <a:solidFill>
                  <a:srgbClr val="142433"/>
                </a:solidFill>
                <a:latin typeface="Inter"/>
              </a:rPr>
              <a:t>:  the To-Be swimlane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600" y="4838700"/>
            <a:ext cx="5207000" cy="228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D6A6E"/>
                </a:solidFill>
                <a:latin typeface="Inter"/>
              </a:rPr>
              <a:t>WHO'S 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1600" y="5118100"/>
            <a:ext cx="5334000" cy="571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A5B6B"/>
                </a:solidFill>
                <a:latin typeface="Inter"/>
              </a:rPr>
              <a:t>client / parent / carer: the family or adult client
clinician / SLT: the therapist    ·    practice: the private clinic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000" y="5791200"/>
            <a:ext cx="10922000" cy="889000"/>
          </a:xfrm>
          <a:prstGeom prst="roundRect">
            <a:avLst>
              <a:gd name="adj" fmla="val 11428"/>
            </a:avLst>
          </a:prstGeom>
          <a:solidFill>
            <a:srgbClr val="E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5956300"/>
            <a:ext cx="3810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ANCHOR PRINCIPLES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6273800"/>
            <a:ext cx="330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4A4D"/>
                </a:solidFill>
                <a:latin typeface="Inter"/>
              </a:rPr>
              <a:t>AI drafts, clinician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550" y="6273800"/>
            <a:ext cx="330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4A4D"/>
                </a:solidFill>
                <a:latin typeface="Inter"/>
              </a:rPr>
              <a:t>UK data residency +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6273800"/>
            <a:ext cx="330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4A4D"/>
                </a:solidFill>
                <a:latin typeface="Inter"/>
              </a:rPr>
              <a:t>Augment people, never replace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3550" y="6235700"/>
            <a:ext cx="6350" cy="3302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18449" y="6235700"/>
            <a:ext cx="6350" cy="3302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31800"/>
            <a:ext cx="5715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604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2D6A6E"/>
                </a:solidFill>
                <a:latin typeface="Inter"/>
              </a:rPr>
              <a:t>The care journey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333500"/>
            <a:ext cx="10541000" cy="292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5B6B"/>
                </a:solidFill>
                <a:latin typeface="Inter"/>
              </a:rPr>
              <a:t>How a new SLT case feels today, and where Sona reduces admin burnout and adds value across five phases.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700" y="1727200"/>
            <a:ext cx="9525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00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1 · Find &amp; enquire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734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6239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2 · Understand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968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8580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3 · Meet &amp;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2019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4 · Plan &amp;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436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3259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5 · Progress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2590800"/>
            <a:ext cx="825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HOW EACH PHASE FEELS  ·  one point per phase, family + clinician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71320" y="2451100"/>
            <a:ext cx="0" cy="8572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83659" y="2451100"/>
            <a:ext cx="0" cy="9334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6000" y="2451100"/>
            <a:ext cx="0" cy="6540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08339" y="2451100"/>
            <a:ext cx="0" cy="4762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20680" y="2451100"/>
            <a:ext cx="0" cy="3619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1671320" y="2895600"/>
            <a:ext cx="8849360" cy="660400"/>
          </a:xfrm>
          <a:custGeom>
            <a:avLst/>
            <a:gdLst/>
            <a:ahLst/>
            <a:cxnLst/>
            <a:rect l="l" t="t" r="r" b="b"/>
            <a:pathLst>
              <a:path w="8849360" h="660400">
                <a:moveTo>
                  <a:pt x="0" y="660400"/>
                </a:moveTo>
                <a:lnTo>
                  <a:pt x="0" y="495300"/>
                </a:lnTo>
                <a:lnTo>
                  <a:pt x="2212339" y="571500"/>
                </a:lnTo>
                <a:lnTo>
                  <a:pt x="4424680" y="292100"/>
                </a:lnTo>
                <a:lnTo>
                  <a:pt x="6637019" y="114300"/>
                </a:lnTo>
                <a:lnTo>
                  <a:pt x="8849360" y="0"/>
                </a:lnTo>
                <a:lnTo>
                  <a:pt x="8849360" y="660400"/>
                </a:lnTo>
                <a:close/>
              </a:path>
            </a:pathLst>
          </a:custGeom>
          <a:solidFill>
            <a:srgbClr val="D9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35000" y="3556000"/>
            <a:ext cx="10922000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671320" y="3390900"/>
            <a:ext cx="2212339" cy="762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883659" y="3187700"/>
            <a:ext cx="2212341" cy="2794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096000" y="3009900"/>
            <a:ext cx="2212339" cy="1778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08339" y="2895600"/>
            <a:ext cx="2212341" cy="1143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588769" y="3308350"/>
            <a:ext cx="165100" cy="1651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D6A6E"/>
                </a:solidFill>
                <a:latin typeface="Inter"/>
              </a:rPr>
              <a:t>Anxious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unsure where to start</a:t>
            </a:r>
          </a:p>
        </p:txBody>
      </p:sp>
      <p:sp>
        <p:nvSpPr>
          <p:cNvPr id="32" name="Oval 31"/>
          <p:cNvSpPr/>
          <p:nvPr/>
        </p:nvSpPr>
        <p:spPr>
          <a:xfrm>
            <a:off x="3801109" y="3384550"/>
            <a:ext cx="165100" cy="165100"/>
          </a:xfrm>
          <a:prstGeom prst="ellipse">
            <a:avLst/>
          </a:prstGeom>
          <a:solidFill>
            <a:srgbClr val="35698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4734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356985"/>
                </a:solidFill>
                <a:latin typeface="Inter"/>
              </a:rPr>
              <a:t>Overwhelmed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4734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so much to take in</a:t>
            </a:r>
          </a:p>
        </p:txBody>
      </p:sp>
      <p:sp>
        <p:nvSpPr>
          <p:cNvPr id="35" name="Oval 34"/>
          <p:cNvSpPr/>
          <p:nvPr/>
        </p:nvSpPr>
        <p:spPr>
          <a:xfrm>
            <a:off x="6013450" y="3105150"/>
            <a:ext cx="165100" cy="165100"/>
          </a:xfrm>
          <a:prstGeom prst="ellipse">
            <a:avLst/>
          </a:prstGeom>
          <a:solidFill>
            <a:srgbClr val="C070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5968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0703F"/>
                </a:solidFill>
                <a:latin typeface="Inter"/>
              </a:rPr>
              <a:t>Hopeful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968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a clear path forward</a:t>
            </a:r>
          </a:p>
        </p:txBody>
      </p:sp>
      <p:sp>
        <p:nvSpPr>
          <p:cNvPr id="38" name="Oval 37"/>
          <p:cNvSpPr/>
          <p:nvPr/>
        </p:nvSpPr>
        <p:spPr>
          <a:xfrm>
            <a:off x="8225789" y="2927350"/>
            <a:ext cx="165100" cy="165100"/>
          </a:xfrm>
          <a:prstGeom prst="ellipse">
            <a:avLst/>
          </a:prstGeom>
          <a:solidFill>
            <a:srgbClr val="6E5A8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2019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6E5A86"/>
                </a:solidFill>
                <a:latin typeface="Inter"/>
              </a:rPr>
              <a:t>Reassured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2019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kept in the loop</a:t>
            </a:r>
          </a:p>
        </p:txBody>
      </p:sp>
      <p:sp>
        <p:nvSpPr>
          <p:cNvPr id="41" name="Oval 40"/>
          <p:cNvSpPr/>
          <p:nvPr/>
        </p:nvSpPr>
        <p:spPr>
          <a:xfrm>
            <a:off x="10438130" y="2813050"/>
            <a:ext cx="165100" cy="165100"/>
          </a:xfrm>
          <a:prstGeom prst="ellipse">
            <a:avLst/>
          </a:prstGeom>
          <a:solidFill>
            <a:srgbClr val="4C80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8436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4C8060"/>
                </a:solidFill>
                <a:latin typeface="Inter"/>
              </a:rPr>
              <a:t>Confident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436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confident &amp; in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216400"/>
            <a:ext cx="571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TODAY'S PAIN · BY PHASE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49300" y="4559300"/>
            <a:ext cx="69850" cy="69850"/>
          </a:xfrm>
          <a:prstGeom prst="ellipse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30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Enquiries slip through the cracks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4734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961640" y="4559300"/>
            <a:ext cx="69850" cy="69850"/>
          </a:xfrm>
          <a:prstGeom prst="ellipse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6164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Chasing forms; everything is manual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968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73980" y="4559300"/>
            <a:ext cx="69850" cy="69850"/>
          </a:xfrm>
          <a:prstGeom prst="ellipse">
            <a:avLst/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7398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Prep is rushed; the free consult under-delivers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72019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86319" y="4559300"/>
            <a:ext cx="69850" cy="69850"/>
          </a:xfrm>
          <a:prstGeom prst="ellipse">
            <a:avLst/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86319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Plans hand-built; reports take ~3 weeks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48436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98660" y="4559300"/>
            <a:ext cx="69850" cy="69850"/>
          </a:xfrm>
          <a:prstGeom prst="ellipse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9866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Carryover is ad-hoc (email / WhatsApp)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5410200"/>
            <a:ext cx="571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TARGET OUTCOMES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7700" y="5638800"/>
            <a:ext cx="6350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" y="5727700"/>
            <a:ext cx="5461000" cy="444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2D6A6E"/>
                </a:solidFill>
                <a:latin typeface="Inter"/>
              </a:rPr>
              <a:t>≥ 4 hours / month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" y="6235700"/>
            <a:ext cx="5461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A5B6B"/>
                </a:solidFill>
                <a:latin typeface="Inter"/>
              </a:rPr>
              <a:t>productive hours given back to each clinician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26200" y="5638800"/>
            <a:ext cx="6350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13500" y="5727700"/>
            <a:ext cx="5207000" cy="444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2D6A6E"/>
                </a:solidFill>
                <a:latin typeface="Inter"/>
              </a:rPr>
              <a:t>Same-day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3500" y="6235700"/>
            <a:ext cx="52705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A5B6B"/>
                </a:solidFill>
                <a:latin typeface="Inter"/>
              </a:rPr>
              <a:t>client summaries &amp; reports, vs the ~3-week manual baseline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57200"/>
            <a:ext cx="5715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PRODUCT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858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2D6A6E"/>
                </a:solidFill>
                <a:latin typeface="Inter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358900"/>
            <a:ext cx="10668000" cy="292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5B6B"/>
                </a:solidFill>
                <a:latin typeface="Inter"/>
              </a:rPr>
              <a:t>The first 30 days as nine stages grouped into five phases: what Sona does, and the surface that delivers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879599"/>
            <a:ext cx="1117600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286000"/>
            <a:ext cx="111760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755900"/>
            <a:ext cx="1117600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What Sona
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140200"/>
            <a:ext cx="111760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Surface /
owner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41500" y="1879599"/>
            <a:ext cx="1011766" cy="355600"/>
          </a:xfrm>
          <a:prstGeom prst="roundRect">
            <a:avLst>
              <a:gd name="adj" fmla="val 17857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30400" y="1879599"/>
            <a:ext cx="833966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Find &amp; enquire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9466" y="1879599"/>
            <a:ext cx="2099733" cy="355600"/>
          </a:xfrm>
          <a:prstGeom prst="roundRect">
            <a:avLst>
              <a:gd name="adj" fmla="val 17857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8366" y="1879599"/>
            <a:ext cx="1921933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Understand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5400" y="1879599"/>
            <a:ext cx="3187700" cy="355600"/>
          </a:xfrm>
          <a:prstGeom prst="roundRect">
            <a:avLst>
              <a:gd name="adj" fmla="val 17857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4300" y="1879599"/>
            <a:ext cx="3009900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Meet &amp; decide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9300" y="1879599"/>
            <a:ext cx="2099733" cy="355600"/>
          </a:xfrm>
          <a:prstGeom prst="roundRect">
            <a:avLst>
              <a:gd name="adj" fmla="val 17857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879599"/>
            <a:ext cx="1921933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Plan &amp; share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45233" y="1879599"/>
            <a:ext cx="1011766" cy="355600"/>
          </a:xfrm>
          <a:prstGeom prst="roundRect">
            <a:avLst>
              <a:gd name="adj" fmla="val 17857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4133" y="1879599"/>
            <a:ext cx="833966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Progress together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1500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9599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1 · Referral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41500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17700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Capture enquiry + audit trail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41500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05000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9466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7566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2 · Smart 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9466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05666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Adaptive intake + status + consent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9466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92966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Family / client app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17433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5533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3 · Intake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17433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3633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One-screen client overview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17433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80933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05400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3500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4 · Consult prep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05400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81600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05400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68900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3366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31466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5 · Consultation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3366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9566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Schedule consult + calendar / video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93366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6866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 + calendar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81333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9433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6 · Triage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81333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57533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Capture triage + rationale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81333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44833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69300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7400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7 · Session plan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369300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45500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69300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32800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457266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95366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8 · Family summary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457266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3466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Tone-adjusted client summary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57266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20766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Client app + AI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545233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83333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9 · Carryover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545233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21433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Resources + progress portal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545233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08733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Client app + web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000" y="5080000"/>
            <a:ext cx="571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WHERE SONA WINS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500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930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Own the first 30 days as one loop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9725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1155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Trust is the moat; clinician signs every draft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5950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7380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Start paediatric, then generalise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2175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3605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UK data residency + clinical audit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000" y="6070600"/>
            <a:ext cx="10922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597A4"/>
                </a:solidFill>
                <a:latin typeface="Inter"/>
              </a:rPr>
              <a:t>Colour groups the nine stages into their five phases.   ·   Generalised across SLTs (Paediatric &amp; Adult).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06400"/>
            <a:ext cx="5715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35000"/>
            <a:ext cx="9525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2D6A6E"/>
                </a:solidFill>
                <a:latin typeface="Inter"/>
              </a:rPr>
              <a:t>How the journey runs with 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270000"/>
            <a:ext cx="1092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5B6B"/>
                </a:solidFill>
                <a:latin typeface="Inter"/>
              </a:rPr>
              <a:t>A swimlane map of the proposed (To-Be) process: the basis for prototypes and screens.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500" y="1752600"/>
            <a:ext cx="9842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000" y="1752600"/>
            <a:ext cx="1079500" cy="1143000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 rot="16200000">
            <a:off x="635000" y="1752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Client / Parent / Carer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4500" y="2895600"/>
            <a:ext cx="9842500" cy="11430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2895600"/>
            <a:ext cx="1079500" cy="1143000"/>
          </a:xfrm>
          <a:prstGeom prst="rect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16200000">
            <a:off x="635000" y="2895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Clinician / SLT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4500" y="4038600"/>
            <a:ext cx="9842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038600"/>
            <a:ext cx="1079500" cy="1143000"/>
          </a:xfrm>
          <a:prstGeom prst="rect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635000" y="4038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Sona  (app &amp; AI)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500" y="5181600"/>
            <a:ext cx="9842500" cy="11430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000" y="5181600"/>
            <a:ext cx="1079500" cy="1143000"/>
          </a:xfrm>
          <a:prstGeom prst="rect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 rot="16200000">
            <a:off x="635000" y="5181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External  (calendar · PMS)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36700" y="2063750"/>
            <a:ext cx="1117600" cy="520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063750"/>
            <a:ext cx="990599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2433"/>
                </a:solidFill>
                <a:latin typeface="Inter"/>
              </a:rPr>
              <a:t>Enquiry arrives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9250" y="2063750"/>
            <a:ext cx="1079500" cy="520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72750" y="2063750"/>
            <a:ext cx="9525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2433"/>
                </a:solidFill>
                <a:latin typeface="Inter"/>
              </a:rPr>
              <a:t>Ongoing care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0500" y="2082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94000" y="2082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Complete intake &amp; 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34500" y="2082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8000" y="2082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Receive summary (app)</a:t>
            </a:r>
          </a:p>
        </p:txBody>
      </p:sp>
      <p:sp>
        <p:nvSpPr>
          <p:cNvPr id="26" name="Diamond 25"/>
          <p:cNvSpPr/>
          <p:nvPr/>
        </p:nvSpPr>
        <p:spPr>
          <a:xfrm>
            <a:off x="5880100" y="3124200"/>
            <a:ext cx="1193800" cy="685800"/>
          </a:xfrm>
          <a:prstGeom prst="diamond">
            <a:avLst/>
          </a:prstGeom>
          <a:solidFill>
            <a:srgbClr val="FFF0E6"/>
          </a:solidFill>
          <a:ln w="19050">
            <a:solidFill>
              <a:srgbClr val="C4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rmAutofit/>
          </a:bodyPr>
          <a:lstStyle/>
          <a:p>
            <a:pPr algn="ctr"/>
            <a:r>
              <a:rPr sz="1100" b="1">
                <a:solidFill>
                  <a:srgbClr val="142433"/>
                </a:solidFill>
                <a:latin typeface="Inter"/>
              </a:rPr>
              <a:t>Ongoing therapy?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211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46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Review overview + prep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768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403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Consultation (~20 min)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79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14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Strategy advice &amp; home tips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741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376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Edit &amp; sign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933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568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Review &amp; send summary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36700" y="4368800"/>
            <a:ext cx="11176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00200" y="4368800"/>
            <a:ext cx="990599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Capture enquiry + smart intake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29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464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85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120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741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76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AI family summary (DRAFT)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219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Carryover + progress portal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43400" y="5511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06900" y="5511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Calendar / video link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58400" y="5511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21900" y="5511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PMS sync (vision)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095499" y="2584450"/>
            <a:ext cx="0" cy="178435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95499" y="2565400"/>
            <a:ext cx="1181101" cy="1803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76600" y="2565400"/>
            <a:ext cx="152400" cy="1803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429000" y="3708400"/>
            <a:ext cx="83820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89500" y="3708400"/>
            <a:ext cx="533400" cy="1803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813300" y="3467100"/>
            <a:ext cx="6350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5880100" y="3467100"/>
            <a:ext cx="8890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477000" y="3810000"/>
            <a:ext cx="1117600" cy="5588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32600" y="3937000"/>
            <a:ext cx="4064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A5B6B"/>
                </a:solidFill>
                <a:latin typeface="Inter"/>
              </a:rPr>
              <a:t>Yes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73900" y="3467100"/>
            <a:ext cx="25400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97700" y="3314700"/>
            <a:ext cx="4064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A5B6B"/>
                </a:solidFill>
                <a:latin typeface="Inter"/>
              </a:rPr>
              <a:t>No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140700" y="3467100"/>
            <a:ext cx="533400" cy="11430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220200" y="3708400"/>
            <a:ext cx="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420100" y="3467100"/>
            <a:ext cx="254000" cy="11430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766300" y="3467100"/>
            <a:ext cx="127000" cy="11430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9880600" y="2565400"/>
            <a:ext cx="55880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439400" y="3708400"/>
            <a:ext cx="16510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26700" y="2324100"/>
            <a:ext cx="8255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604500" y="4851400"/>
            <a:ext cx="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14500" y="6451600"/>
            <a:ext cx="10922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597A4"/>
                </a:solidFill>
                <a:latin typeface="Inter"/>
              </a:rPr>
              <a:t>Shapes:  rounded = task   ·   diamond = decision   ·   pill = start / end.    DRAFT = AI artifact the clinician reviews &amp; signs.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