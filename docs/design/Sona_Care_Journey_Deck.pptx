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65760"/>
            <a:ext cx="11365992" cy="1325880"/>
          </a:xfrm>
          <a:prstGeom prst="roundRect">
            <a:avLst>
              <a:gd name="adj" fmla="val 4137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65760"/>
            <a:ext cx="11365992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Sona — Care Journey &amp; Product Overview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DCEDEC"/>
                </a:solidFill>
                <a:latin typeface="Calibri"/>
              </a:rPr>
              <a:t>An AI co-pilot that reduces admin burnout in UK private Speech &amp; Language Therapy (SLT) — giving clinicians more productive time for care across a client's first 30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920240"/>
            <a:ext cx="5532120" cy="315468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12700">
            <a:solidFill>
              <a:srgbClr val="D8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5532120" cy="315468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6A6E"/>
                </a:solidFill>
                <a:latin typeface="Calibri"/>
              </a:rPr>
              <a:t>WHAT IS SONA?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Sona is an AI co-pilot for UK private Speech &amp; Language Therapy (SLT) practices.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It does the repetitive admin alongside the clinician — capturing the enquiry, running a smart intake, prepping the consult, recording the triage decision, and drafting the first session plan and family summary — always as drafts for the clinician to review.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Sona augments clinicians. Its purpose is to increase human productivity — less admin burnout, more time for care.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532120" cy="315468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12700">
            <a:solidFill>
              <a:srgbClr val="D8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5352" y="1920240"/>
            <a:ext cx="5532120" cy="315468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6A6E"/>
                </a:solidFill>
                <a:latin typeface="Calibri"/>
              </a:rPr>
              <a:t>HOW TO READ THIS BOARD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•  Two views follow: the Executive view (the journey, the value, the bets) and the Product view (what we'll build, stage by stage).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•  Read each view left → right — the client's journey across the first ~30 days of a new case.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15302E"/>
                </a:solidFill>
                <a:latin typeface="Calibri"/>
              </a:rPr>
              <a:t>•  Who's who: client / parent / carer = the family or adult client · clinician / SLT = the therapist · practice = the private clinic.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5257800"/>
            <a:ext cx="11365992" cy="713232"/>
          </a:xfrm>
          <a:prstGeom prst="roundRect">
            <a:avLst>
              <a:gd name="adj" fmla="val 12820"/>
            </a:avLst>
          </a:prstGeom>
          <a:solidFill>
            <a:srgbClr val="234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57800"/>
            <a:ext cx="11365992" cy="7132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ANCHOR PRINCIPLES      (1) AI drafts, clinician decides      (2) No screen time for children — all interfaces are adult-facing      (3) UK data residency + audit trail by construction      (4) Augment people, never replace them — increase human productivity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035040"/>
            <a:ext cx="11365992" cy="32004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938F"/>
                </a:solidFill>
                <a:latin typeface="Calibri"/>
              </a:rPr>
              <a:t>Generalized across SLTs (Pediatric &amp; Adult) · synthetic example persona · no PHI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65992" cy="5029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D6A6E"/>
                </a:solidFill>
                <a:latin typeface="Calibri"/>
              </a:rPr>
              <a:t>Executive view — the care journey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365992" cy="29260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How a new SLT case feels today, and where Sona reduces admin burnout and adds value — five phases.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2148840" cy="658368"/>
          </a:xfrm>
          <a:prstGeom prst="roundRect">
            <a:avLst>
              <a:gd name="adj" fmla="val 19444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148840" cy="65836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 · Find &amp; enquire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5768" y="1097280"/>
            <a:ext cx="2148840" cy="658368"/>
          </a:xfrm>
          <a:prstGeom prst="roundRect">
            <a:avLst>
              <a:gd name="adj" fmla="val 19444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1097280"/>
            <a:ext cx="2148840" cy="65836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· Understand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0056" y="1097280"/>
            <a:ext cx="2148840" cy="658368"/>
          </a:xfrm>
          <a:prstGeom prst="roundRect">
            <a:avLst>
              <a:gd name="adj" fmla="val 19444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0056" y="1097280"/>
            <a:ext cx="2148840" cy="65836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 · Meet &amp; decide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24344" y="1097280"/>
            <a:ext cx="2148840" cy="658368"/>
          </a:xfrm>
          <a:prstGeom prst="roundRect">
            <a:avLst>
              <a:gd name="adj" fmla="val 19444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24344" y="1097280"/>
            <a:ext cx="2148840" cy="65836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 · Plan &amp; share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28632" y="1097280"/>
            <a:ext cx="2148840" cy="658368"/>
          </a:xfrm>
          <a:prstGeom prst="roundRect">
            <a:avLst>
              <a:gd name="adj" fmla="val 19444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097280"/>
            <a:ext cx="2148840" cy="65836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 · Progress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920240"/>
            <a:ext cx="11365992" cy="1325880"/>
          </a:xfrm>
          <a:prstGeom prst="roundRect">
            <a:avLst>
              <a:gd name="adj" fmla="val 2758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956816"/>
            <a:ext cx="27432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SENTIMENT — family + clinician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85900" y="2825861"/>
            <a:ext cx="2304288" cy="79004"/>
          </a:xfrm>
          <a:prstGeom prst="line">
            <a:avLst/>
          </a:prstGeom>
          <a:ln w="31750">
            <a:solidFill>
              <a:srgbClr val="234F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90188" y="2615184"/>
            <a:ext cx="2304288" cy="289681"/>
          </a:xfrm>
          <a:prstGeom prst="line">
            <a:avLst/>
          </a:prstGeom>
          <a:ln w="31750">
            <a:solidFill>
              <a:srgbClr val="234F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94476" y="2430840"/>
            <a:ext cx="2304288" cy="184344"/>
          </a:xfrm>
          <a:prstGeom prst="line">
            <a:avLst/>
          </a:prstGeom>
          <a:ln w="31750">
            <a:solidFill>
              <a:srgbClr val="234F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98764" y="2312334"/>
            <a:ext cx="2304288" cy="118506"/>
          </a:xfrm>
          <a:prstGeom prst="line">
            <a:avLst/>
          </a:prstGeom>
          <a:ln w="31750">
            <a:solidFill>
              <a:srgbClr val="234F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412748" y="2752709"/>
            <a:ext cx="146304" cy="146304"/>
          </a:xfrm>
          <a:prstGeom prst="ellipse">
            <a:avLst/>
          </a:prstGeom>
          <a:solidFill>
            <a:srgbClr val="2D6A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2935224"/>
            <a:ext cx="1828800" cy="2560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D6A6E"/>
                </a:solidFill>
                <a:latin typeface="Calibri"/>
              </a:rPr>
              <a:t>Anxious</a:t>
            </a:r>
          </a:p>
        </p:txBody>
      </p:sp>
      <p:sp>
        <p:nvSpPr>
          <p:cNvPr id="23" name="Oval 22"/>
          <p:cNvSpPr/>
          <p:nvPr/>
        </p:nvSpPr>
        <p:spPr>
          <a:xfrm>
            <a:off x="3717036" y="2831713"/>
            <a:ext cx="146304" cy="146304"/>
          </a:xfrm>
          <a:prstGeom prst="ellipse">
            <a:avLst/>
          </a:prstGeom>
          <a:solidFill>
            <a:srgbClr val="2D6A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75788" y="2935224"/>
            <a:ext cx="1828800" cy="2560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D6A6E"/>
                </a:solidFill>
                <a:latin typeface="Calibri"/>
              </a:rPr>
              <a:t>Overwhelmed</a:t>
            </a:r>
          </a:p>
        </p:txBody>
      </p:sp>
      <p:sp>
        <p:nvSpPr>
          <p:cNvPr id="25" name="Oval 24"/>
          <p:cNvSpPr/>
          <p:nvPr/>
        </p:nvSpPr>
        <p:spPr>
          <a:xfrm>
            <a:off x="6021324" y="2542032"/>
            <a:ext cx="146304" cy="146304"/>
          </a:xfrm>
          <a:prstGeom prst="ellipse">
            <a:avLst/>
          </a:prstGeom>
          <a:solidFill>
            <a:srgbClr val="2D6A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0076" y="2935224"/>
            <a:ext cx="1828800" cy="2560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D6A6E"/>
                </a:solidFill>
                <a:latin typeface="Calibri"/>
              </a:rPr>
              <a:t>Hopeful</a:t>
            </a:r>
          </a:p>
        </p:txBody>
      </p:sp>
      <p:sp>
        <p:nvSpPr>
          <p:cNvPr id="27" name="Oval 26"/>
          <p:cNvSpPr/>
          <p:nvPr/>
        </p:nvSpPr>
        <p:spPr>
          <a:xfrm>
            <a:off x="8325612" y="2357688"/>
            <a:ext cx="146304" cy="146304"/>
          </a:xfrm>
          <a:prstGeom prst="ellipse">
            <a:avLst/>
          </a:prstGeom>
          <a:solidFill>
            <a:srgbClr val="2D6A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4364" y="2935224"/>
            <a:ext cx="1828800" cy="2560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D6A6E"/>
                </a:solidFill>
                <a:latin typeface="Calibri"/>
              </a:rPr>
              <a:t>Reassured</a:t>
            </a:r>
          </a:p>
        </p:txBody>
      </p:sp>
      <p:sp>
        <p:nvSpPr>
          <p:cNvPr id="29" name="Oval 28"/>
          <p:cNvSpPr/>
          <p:nvPr/>
        </p:nvSpPr>
        <p:spPr>
          <a:xfrm>
            <a:off x="10629900" y="2239182"/>
            <a:ext cx="146304" cy="146304"/>
          </a:xfrm>
          <a:prstGeom prst="ellipse">
            <a:avLst/>
          </a:prstGeom>
          <a:solidFill>
            <a:srgbClr val="2D6A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8652" y="2935224"/>
            <a:ext cx="1828800" cy="2560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D6A6E"/>
                </a:solidFill>
                <a:latin typeface="Calibri"/>
              </a:rPr>
              <a:t>Confident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310128"/>
            <a:ext cx="11365992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TOP PAINS TODAY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3547872"/>
            <a:ext cx="2148840" cy="731520"/>
          </a:xfrm>
          <a:prstGeom prst="roundRect">
            <a:avLst>
              <a:gd name="adj" fmla="val 12500"/>
            </a:avLst>
          </a:prstGeom>
          <a:solidFill>
            <a:srgbClr val="F1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547872"/>
            <a:ext cx="2148840" cy="7315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E2F2F"/>
                </a:solidFill>
                <a:latin typeface="Calibri"/>
              </a:rPr>
              <a:t>Enquiries slip through the cracks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15768" y="3547872"/>
            <a:ext cx="2148840" cy="731520"/>
          </a:xfrm>
          <a:prstGeom prst="roundRect">
            <a:avLst>
              <a:gd name="adj" fmla="val 12500"/>
            </a:avLst>
          </a:prstGeom>
          <a:solidFill>
            <a:srgbClr val="F1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15768" y="3547872"/>
            <a:ext cx="2148840" cy="7315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E2F2F"/>
                </a:solidFill>
                <a:latin typeface="Calibri"/>
              </a:rPr>
              <a:t>Chasing forms; everything is manual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0056" y="3547872"/>
            <a:ext cx="2148840" cy="731520"/>
          </a:xfrm>
          <a:prstGeom prst="roundRect">
            <a:avLst>
              <a:gd name="adj" fmla="val 12500"/>
            </a:avLst>
          </a:prstGeom>
          <a:solidFill>
            <a:srgbClr val="F1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0056" y="3547872"/>
            <a:ext cx="2148840" cy="7315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E2F2F"/>
                </a:solidFill>
                <a:latin typeface="Calibri"/>
              </a:rPr>
              <a:t>Prep rushed; the free consult under-delivers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24344" y="3547872"/>
            <a:ext cx="2148840" cy="731520"/>
          </a:xfrm>
          <a:prstGeom prst="roundRect">
            <a:avLst>
              <a:gd name="adj" fmla="val 12500"/>
            </a:avLst>
          </a:prstGeom>
          <a:solidFill>
            <a:srgbClr val="F1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547872"/>
            <a:ext cx="2148840" cy="7315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E2F2F"/>
                </a:solidFill>
                <a:latin typeface="Calibri"/>
              </a:rPr>
              <a:t>Plans hand-built; reports take ~3 weeks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28632" y="3547872"/>
            <a:ext cx="2148840" cy="731520"/>
          </a:xfrm>
          <a:prstGeom prst="roundRect">
            <a:avLst>
              <a:gd name="adj" fmla="val 12500"/>
            </a:avLst>
          </a:prstGeom>
          <a:solidFill>
            <a:srgbClr val="F1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8632" y="3547872"/>
            <a:ext cx="2148840" cy="7315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E2F2F"/>
                </a:solidFill>
                <a:latin typeface="Calibri"/>
              </a:rPr>
              <a:t>Carryover is ad-hoc (email / WhatsApp)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4462272"/>
            <a:ext cx="11365992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WHAT IT'S WORTH (TARGETS)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700016"/>
            <a:ext cx="5500116" cy="1078992"/>
          </a:xfrm>
          <a:prstGeom prst="roundRect">
            <a:avLst>
              <a:gd name="adj" fmla="val 6779"/>
            </a:avLst>
          </a:prstGeom>
          <a:solidFill>
            <a:srgbClr val="FFFFFF"/>
          </a:solidFill>
          <a:ln w="12700">
            <a:solidFill>
              <a:srgbClr val="D8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2648" y="4882896"/>
            <a:ext cx="457200" cy="54864"/>
          </a:xfrm>
          <a:prstGeom prst="roundRect">
            <a:avLst>
              <a:gd name="adj" fmla="val 33333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992624"/>
            <a:ext cx="5500116" cy="50292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D6A6E"/>
                </a:solidFill>
                <a:latin typeface="Calibri"/>
              </a:rPr>
              <a:t>≥ 4 hours /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5504688"/>
            <a:ext cx="5500116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TARGET — productive hours given back to each clinician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4700016"/>
            <a:ext cx="5500116" cy="1078992"/>
          </a:xfrm>
          <a:prstGeom prst="roundRect">
            <a:avLst>
              <a:gd name="adj" fmla="val 6779"/>
            </a:avLst>
          </a:prstGeom>
          <a:solidFill>
            <a:srgbClr val="FFFFFF"/>
          </a:solidFill>
          <a:ln w="12700">
            <a:solidFill>
              <a:srgbClr val="D8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78524" y="4882896"/>
            <a:ext cx="457200" cy="54864"/>
          </a:xfrm>
          <a:prstGeom prst="roundRect">
            <a:avLst>
              <a:gd name="adj" fmla="val 33333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7356" y="4992624"/>
            <a:ext cx="5500116" cy="50292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D6A6E"/>
                </a:solidFill>
                <a:latin typeface="Calibri"/>
              </a:rPr>
              <a:t>Same-day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7356" y="5504688"/>
            <a:ext cx="5500116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TARGET — client summaries &amp; reports vs the ~3-week baseline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65992" cy="5029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D6A6E"/>
                </a:solidFill>
                <a:latin typeface="Calibri"/>
              </a:rPr>
              <a:t>Executive view — strategy &amp;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86384"/>
            <a:ext cx="11365992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STRATEGIC OPPORTUNITIES — where Sona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05840"/>
            <a:ext cx="2718054" cy="777240"/>
          </a:xfrm>
          <a:prstGeom prst="roundRect">
            <a:avLst>
              <a:gd name="adj" fmla="val 11764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2718054" cy="77724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Own the first 30 days as one reviewed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4126" y="1005840"/>
            <a:ext cx="2718054" cy="777240"/>
          </a:xfrm>
          <a:prstGeom prst="roundRect">
            <a:avLst>
              <a:gd name="adj" fmla="val 11764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4126" y="1005840"/>
            <a:ext cx="2718054" cy="77724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Trust is the moat — clinician signs every AI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6772" y="1005840"/>
            <a:ext cx="2718054" cy="777240"/>
          </a:xfrm>
          <a:prstGeom prst="roundRect">
            <a:avLst>
              <a:gd name="adj" fmla="val 11764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6772" y="1005840"/>
            <a:ext cx="2718054" cy="77724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Start paediatric, generalise across other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9418" y="1005840"/>
            <a:ext cx="2718054" cy="777240"/>
          </a:xfrm>
          <a:prstGeom prst="roundRect">
            <a:avLst>
              <a:gd name="adj" fmla="val 11764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9418" y="1005840"/>
            <a:ext cx="2718054" cy="77724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UK data residency + Clinical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11680"/>
            <a:ext cx="54864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PRIORITISATION — impact × effort · vertical = impact, horizontal = effort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286000"/>
            <a:ext cx="5486400" cy="3931920"/>
          </a:xfrm>
          <a:prstGeom prst="roundRect">
            <a:avLst>
              <a:gd name="adj" fmla="val 697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154680" y="2377440"/>
            <a:ext cx="0" cy="3749040"/>
          </a:xfrm>
          <a:prstGeom prst="line">
            <a:avLst/>
          </a:prstGeom>
          <a:ln w="12700">
            <a:solidFill>
              <a:srgbClr val="C9C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2920" y="4251960"/>
            <a:ext cx="5303520" cy="0"/>
          </a:xfrm>
          <a:prstGeom prst="line">
            <a:avLst/>
          </a:prstGeom>
          <a:ln w="12700">
            <a:solidFill>
              <a:srgbClr val="C9CF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1208" y="2340864"/>
            <a:ext cx="18288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5A6A66"/>
                </a:solidFill>
                <a:latin typeface="Calibri"/>
              </a:rPr>
              <a:t>QUICK WINS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2340864"/>
            <a:ext cx="18288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A6A66"/>
                </a:solidFill>
                <a:latin typeface="Calibri"/>
              </a:rPr>
              <a:t>BIG BETS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5943600"/>
            <a:ext cx="18288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5A6A66"/>
                </a:solidFill>
                <a:latin typeface="Calibri"/>
              </a:rPr>
              <a:t>FILL-INS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9352" y="5943600"/>
            <a:ext cx="1828800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A6A66"/>
                </a:solidFill>
                <a:latin typeface="Calibri"/>
              </a:rPr>
              <a:t>TIME SINKS</a:t>
            </a:r>
          </a:p>
        </p:txBody>
      </p:sp>
      <p:sp>
        <p:nvSpPr>
          <p:cNvPr id="21" name="Oval 20"/>
          <p:cNvSpPr/>
          <p:nvPr/>
        </p:nvSpPr>
        <p:spPr>
          <a:xfrm>
            <a:off x="1826971" y="3154680"/>
            <a:ext cx="146304" cy="146304"/>
          </a:xfrm>
          <a:prstGeom prst="ellipse">
            <a:avLst/>
          </a:prstGeom>
          <a:solidFill>
            <a:srgbClr val="F2A878"/>
          </a:solidFill>
          <a:ln w="1905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8139" y="3090672"/>
            <a:ext cx="2377440" cy="2743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6A6E"/>
                </a:solidFill>
                <a:latin typeface="Calibri"/>
              </a:rPr>
              <a:t>Trust / sign-off</a:t>
            </a:r>
          </a:p>
        </p:txBody>
      </p:sp>
      <p:sp>
        <p:nvSpPr>
          <p:cNvPr id="23" name="Oval 22"/>
          <p:cNvSpPr/>
          <p:nvPr/>
        </p:nvSpPr>
        <p:spPr>
          <a:xfrm>
            <a:off x="3529584" y="3300984"/>
            <a:ext cx="146304" cy="146304"/>
          </a:xfrm>
          <a:prstGeom prst="ellipse">
            <a:avLst/>
          </a:prstGeom>
          <a:solidFill>
            <a:srgbClr val="F2A878"/>
          </a:solidFill>
          <a:ln w="1905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0752" y="3236976"/>
            <a:ext cx="2377440" cy="2743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6A6E"/>
                </a:solidFill>
                <a:latin typeface="Calibri"/>
              </a:rPr>
              <a:t>Own 30-day loop</a:t>
            </a:r>
          </a:p>
        </p:txBody>
      </p:sp>
      <p:sp>
        <p:nvSpPr>
          <p:cNvPr id="25" name="Oval 24"/>
          <p:cNvSpPr/>
          <p:nvPr/>
        </p:nvSpPr>
        <p:spPr>
          <a:xfrm>
            <a:off x="2723083" y="3827678"/>
            <a:ext cx="146304" cy="146304"/>
          </a:xfrm>
          <a:prstGeom prst="ellipse">
            <a:avLst/>
          </a:prstGeom>
          <a:solidFill>
            <a:srgbClr val="F2A878"/>
          </a:solidFill>
          <a:ln w="1905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4251" y="3763670"/>
            <a:ext cx="2377440" cy="2743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6A6E"/>
                </a:solidFill>
                <a:latin typeface="Calibri"/>
              </a:rPr>
              <a:t>Paediatric → generalise</a:t>
            </a:r>
          </a:p>
        </p:txBody>
      </p:sp>
      <p:sp>
        <p:nvSpPr>
          <p:cNvPr id="27" name="Oval 26"/>
          <p:cNvSpPr/>
          <p:nvPr/>
        </p:nvSpPr>
        <p:spPr>
          <a:xfrm>
            <a:off x="3305556" y="4412894"/>
            <a:ext cx="146304" cy="146304"/>
          </a:xfrm>
          <a:prstGeom prst="ellipse">
            <a:avLst/>
          </a:prstGeom>
          <a:solidFill>
            <a:srgbClr val="F2A878"/>
          </a:solidFill>
          <a:ln w="1905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6724" y="4348886"/>
            <a:ext cx="2377440" cy="2743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6A6E"/>
                </a:solidFill>
                <a:latin typeface="Calibri"/>
              </a:rPr>
              <a:t>UK residency +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011680"/>
            <a:ext cx="5468112" cy="22860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A938F"/>
                </a:solidFill>
                <a:latin typeface="Calibri"/>
              </a:rPr>
              <a:t>SEQUENCED BETS — ranked by impact × feasibility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331720"/>
            <a:ext cx="5468112" cy="713232"/>
          </a:xfrm>
          <a:prstGeom prst="roundRect">
            <a:avLst>
              <a:gd name="adj" fmla="val 12820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331720"/>
            <a:ext cx="5468112" cy="7132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1 · Trust as the moat — clinician sign-off on every AI draft   (Impact H · Effort L–M · DO NOW)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200400"/>
            <a:ext cx="5468112" cy="713232"/>
          </a:xfrm>
          <a:prstGeom prst="roundRect">
            <a:avLst>
              <a:gd name="adj" fmla="val 12820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200400"/>
            <a:ext cx="5468112" cy="7132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2 · Own the first 30 days as one reviewed loop   (Impact H · Effort M · DO NOW)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069079"/>
            <a:ext cx="5468112" cy="713232"/>
          </a:xfrm>
          <a:prstGeom prst="roundRect">
            <a:avLst>
              <a:gd name="adj" fmla="val 12820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069079"/>
            <a:ext cx="5468112" cy="7132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3 · UK data residency + audit by construction   (Impact M · Effort M · NOW)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937759"/>
            <a:ext cx="5468112" cy="713232"/>
          </a:xfrm>
          <a:prstGeom prst="roundRect">
            <a:avLst>
              <a:gd name="adj" fmla="val 12820"/>
            </a:avLst>
          </a:prstGeom>
          <a:solidFill>
            <a:srgbClr val="E3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937759"/>
            <a:ext cx="5468112" cy="713232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D6A6E"/>
                </a:solidFill>
                <a:latin typeface="Calibri"/>
              </a:rPr>
              <a:t>4 · Start paediatric, then generalise across other areas   (Impact H · Effort M · NEXT)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65992" cy="50292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D6A6E"/>
                </a:solidFill>
                <a:latin typeface="Calibri"/>
              </a:rPr>
              <a:t>Product view — overview of the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5992" cy="41148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A66"/>
                </a:solidFill>
                <a:latin typeface="Calibri"/>
              </a:rPr>
              <a:t>The client's first 30 days of care as 9 stages grouped into 5 phases. For each stage: what Sona does for the user, and the surface (family app / portal, clinician web, or background AI) that delivers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1143000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874519"/>
            <a:ext cx="1143000" cy="566928"/>
          </a:xfrm>
          <a:prstGeom prst="roundRect">
            <a:avLst>
              <a:gd name="adj" fmla="val 19354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19"/>
            <a:ext cx="1143000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487168"/>
            <a:ext cx="1143000" cy="1783080"/>
          </a:xfrm>
          <a:prstGeom prst="roundRect">
            <a:avLst>
              <a:gd name="adj" fmla="val 8000"/>
            </a:avLst>
          </a:prstGeom>
          <a:solidFill>
            <a:srgbClr val="E7E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487168"/>
            <a:ext cx="1143000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5302E"/>
                </a:solidFill>
                <a:latin typeface="Calibri"/>
              </a:rPr>
              <a:t>What Sona does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315968"/>
            <a:ext cx="1143000" cy="1325880"/>
          </a:xfrm>
          <a:prstGeom prst="roundRect">
            <a:avLst>
              <a:gd name="adj" fmla="val 8000"/>
            </a:avLst>
          </a:prstGeom>
          <a:solidFill>
            <a:srgbClr val="E7E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315968"/>
            <a:ext cx="1143000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5302E"/>
                </a:solidFill>
                <a:latin typeface="Calibri"/>
              </a:rPr>
              <a:t>Surface / owner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7632" y="1371600"/>
            <a:ext cx="1070864" cy="457200"/>
          </a:xfrm>
          <a:prstGeom prst="roundRect">
            <a:avLst>
              <a:gd name="adj" fmla="val 20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71600"/>
            <a:ext cx="1070864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 · Find &amp; enquire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2504" y="1371600"/>
            <a:ext cx="2205736" cy="457200"/>
          </a:xfrm>
          <a:prstGeom prst="roundRect">
            <a:avLst>
              <a:gd name="adj" fmla="val 20000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504" y="1371600"/>
            <a:ext cx="2205736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 · Understand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2248" y="1371600"/>
            <a:ext cx="3340608" cy="457200"/>
          </a:xfrm>
          <a:prstGeom prst="roundRect">
            <a:avLst>
              <a:gd name="adj" fmla="val 20000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2248" y="1371600"/>
            <a:ext cx="3340608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 · Meet &amp; decide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6864" y="1371600"/>
            <a:ext cx="2205736" cy="457200"/>
          </a:xfrm>
          <a:prstGeom prst="roundRect">
            <a:avLst>
              <a:gd name="adj" fmla="val 20000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6864" y="1371600"/>
            <a:ext cx="2205736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 · Plan &amp; share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06608" y="1371600"/>
            <a:ext cx="1070864" cy="457200"/>
          </a:xfrm>
          <a:prstGeom prst="roundRect">
            <a:avLst>
              <a:gd name="adj" fmla="val 20000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06608" y="1371600"/>
            <a:ext cx="1070864" cy="45720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 · Progress together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27632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27632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1 · Referral / first contact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Capture every enquiry in one place — case record + audit trail.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27632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7632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 — enquiry queue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2504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62504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2 · Smart intake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2504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62504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Adaptive magic-link intake + live status + consent.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62504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2504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Family / client portal (mobile · web)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97376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7376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3 · Intake review &amp; overview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7376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97376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One-screen client overview / summary view.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7376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97376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32248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32248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4 · Consult prep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32248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2248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AI prep brief — probe areas, red flags, references.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32248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32248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 + AI worker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120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67120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5 · Consultation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67120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67120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Schedule the consult + calendar / video links.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67120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67120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 + calendar / video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01992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01992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6 · Triage decision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01992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01992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Capture triage outcome + rationale (configurable).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1992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01992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 — triage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6864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36864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7 · First session plan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36864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36864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AI-drafted, clinician-edited first session plan.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436864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36864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Clinician web + AI worker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571736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1736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8 · Client / family summary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71736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71736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Tone / reading-level client summary via secure portal.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71736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71736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Client portal / app + AI worker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706608" y="1874519"/>
            <a:ext cx="1070864" cy="566928"/>
          </a:xfrm>
          <a:prstGeom prst="roundRect">
            <a:avLst>
              <a:gd name="adj" fmla="val 19354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706608" y="1874519"/>
            <a:ext cx="1070864" cy="566928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9 · Carryover &amp; progress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706608" y="2487168"/>
            <a:ext cx="1070864" cy="1783080"/>
          </a:xfrm>
          <a:prstGeom prst="roundRect">
            <a:avLst>
              <a:gd name="adj" fmla="val 8538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706608" y="2487168"/>
            <a:ext cx="1070864" cy="17830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Resources, progress portal &amp; assessment-report loop.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706608" y="4315968"/>
            <a:ext cx="1070864" cy="1325880"/>
          </a:xfrm>
          <a:prstGeom prst="roundRect">
            <a:avLst>
              <a:gd name="adj" fmla="val 8538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706608" y="4315968"/>
            <a:ext cx="1070864" cy="1325880"/>
          </a:xfrm>
          <a:prstGeom prst="rect">
            <a:avLst/>
          </a:prstGeom>
          <a:noFill/>
        </p:spPr>
        <p:txBody>
          <a:bodyPr wrap="square" anchor="ctr" lIns="64008" rIns="64008" tIns="27432" bIns="27432">
            <a:norm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5302E"/>
                </a:solidFill>
                <a:latin typeface="Calibri"/>
              </a:rPr>
              <a:t>Client app + clinician web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5751576"/>
            <a:ext cx="11365992" cy="274320"/>
          </a:xfrm>
          <a:prstGeom prst="rect">
            <a:avLst/>
          </a:prstGeom>
          <a:noFill/>
        </p:spPr>
        <p:txBody>
          <a:bodyPr wrap="square" anchor="t" lIns="64008" rIns="64008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938F"/>
                </a:solidFill>
                <a:latin typeface="Calibri"/>
              </a:rPr>
              <a:t>Generalized across SLTs (Pediatric &amp; Adult)   ·   Colour groups the 9 stages into their 5 phases.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