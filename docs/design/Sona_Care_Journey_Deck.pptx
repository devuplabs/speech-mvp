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1176000" cy="444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D6A6E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143000"/>
            <a:ext cx="9906000" cy="508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5B6B"/>
                </a:solidFill>
                <a:latin typeface="Inter"/>
              </a:rPr>
              <a:t>An AI co-pilot that reduces admin burnout in UK private Speech &amp; Language Therapy (SLT) — giving clinicians more productive time for care across a client's first 30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7272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2032000"/>
            <a:ext cx="520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WHAT IS SONA?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286000"/>
            <a:ext cx="5143500" cy="2794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is an AI co-pilot for UK private Speech &amp; Language Therapy (SLT) practices.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It does the repetitive admin alongside the clinician — capturing the enquiry, running a smart intake, prepping the consult, recording the triage decision, and drafting the first session plan and family summary, always as drafts for the clinician to review.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augments clinicians. Its purpose is to increase human productivity — less admin burnout, more time for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3300" y="2044700"/>
            <a:ext cx="12700" cy="298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8100" y="2032000"/>
            <a:ext cx="5080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HOW TO READ THIS 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8100" y="2286000"/>
            <a:ext cx="5080000" cy="2794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•  Two views follow — the Executive view (the journey and the value) and the Product view (the proposed solution, phase by phase).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•  Read each view left → right: the client's journey across the first ~30 days of a new case.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•  Who's who —  client / parent / carer: the family or adult client;  clinician / SLT: the therapist;  practice: the private clinic.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5664200"/>
            <a:ext cx="11049000" cy="812800"/>
          </a:xfrm>
          <a:prstGeom prst="roundRect">
            <a:avLst>
              <a:gd name="adj" fmla="val 12500"/>
            </a:avLst>
          </a:prstGeom>
          <a:solidFill>
            <a:srgbClr val="1E4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816600"/>
            <a:ext cx="381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A9C7C7"/>
                </a:solidFill>
                <a:latin typeface="Inter"/>
              </a:rPr>
              <a:t>ANCHOR PRINCIPLES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(1)   AI drafts, clinician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06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(2)   No screen time for children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(3)   UK data residency + audit by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35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(4)   Augment people, never replace them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care journey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287000" cy="317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How a new SLT case feels today, and where Sona reduces admin burnout and adds value — across five phases.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1 · Find &amp; enquire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923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544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2 · Understand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697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318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3 · Meet &amp;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71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4 · Plan &amp;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245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9866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5 · Progress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2860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SENTIMENT · FAMILY + CLINICIAN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20520" y="3202940"/>
            <a:ext cx="2237739" cy="91439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858259" y="2959100"/>
            <a:ext cx="2237741" cy="335279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096000" y="2745740"/>
            <a:ext cx="2237739" cy="213360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333739" y="2608580"/>
            <a:ext cx="2237740" cy="137160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569720" y="3152139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Anxious</a:t>
            </a:r>
          </a:p>
        </p:txBody>
      </p:sp>
      <p:sp>
        <p:nvSpPr>
          <p:cNvPr id="24" name="Oval 23"/>
          <p:cNvSpPr/>
          <p:nvPr/>
        </p:nvSpPr>
        <p:spPr>
          <a:xfrm>
            <a:off x="3807459" y="3243580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0923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Overwhelmed</a:t>
            </a:r>
          </a:p>
        </p:txBody>
      </p:sp>
      <p:sp>
        <p:nvSpPr>
          <p:cNvPr id="26" name="Oval 25"/>
          <p:cNvSpPr/>
          <p:nvPr/>
        </p:nvSpPr>
        <p:spPr>
          <a:xfrm>
            <a:off x="6045200" y="2908300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697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Hopeful</a:t>
            </a:r>
          </a:p>
        </p:txBody>
      </p:sp>
      <p:sp>
        <p:nvSpPr>
          <p:cNvPr id="28" name="Oval 27"/>
          <p:cNvSpPr/>
          <p:nvPr/>
        </p:nvSpPr>
        <p:spPr>
          <a:xfrm>
            <a:off x="8282939" y="2694939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471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Reassured</a:t>
            </a:r>
          </a:p>
        </p:txBody>
      </p:sp>
      <p:sp>
        <p:nvSpPr>
          <p:cNvPr id="30" name="Oval 29"/>
          <p:cNvSpPr/>
          <p:nvPr/>
        </p:nvSpPr>
        <p:spPr>
          <a:xfrm>
            <a:off x="10520680" y="2557780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2245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Confident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" y="38354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TODAY'S PAIN — BY PHASE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1500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40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Enquiries slip through the cracks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0923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9814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Chasing forms — everything is manual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697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3588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Prep is rushed; the free consult under-delivers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471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73619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Plans hand-built; reports take ~3 weeks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2245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1136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Carryover is ad-hoc (email / WhatsApp)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" y="50673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THE PRIZE — TARGETS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4200" y="52832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1500" y="53721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≥ 4 hours /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" y="57912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productive hours given back to each clinician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62700" y="52832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0000" y="53721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Same-day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0" y="57912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client summaries &amp; reports, vs the ~3-week manual baseline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PRODUCT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541000" cy="317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The client's first 30 days as nine stages grouped into five phases — for each stage: what Sona does, and the surface that delivers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828800"/>
            <a:ext cx="939799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97100"/>
            <a:ext cx="939799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628900"/>
            <a:ext cx="939799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What Sona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822700"/>
            <a:ext cx="939799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Surface / owner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87500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3700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Find &amp; enquire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9333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5533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Understand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3000" y="1828800"/>
            <a:ext cx="3302000" cy="317500"/>
          </a:xfrm>
          <a:prstGeom prst="roundRect">
            <a:avLst>
              <a:gd name="adj" fmla="val 20000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3149600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Meet &amp; decide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8499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700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Plan &amp; share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62166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38366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Progress together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875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5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1 · Referral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875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3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every enquiry — one case record + audit trail.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875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3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enquiry queue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9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7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2 · Smart intake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9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5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Adaptive magic-link intake + live status + consent.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09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5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Family / client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31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9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3 · Intake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31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07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One-screen client overview / summary.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31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7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30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911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4 · Consult prep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 prep brief — probes, red flags, references.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530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748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29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5 · Consultation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48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10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Schedule the consult + calendar / video links.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748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510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calendar / video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966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347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6 · Triage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966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728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triage outcome + rationale.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966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728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triage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18499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6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7 · Session plan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18499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94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AI-drafted, clinician-edited session plan.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18499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4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40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78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8 · Family summary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40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16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Tone / reading-level client summary via portal.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440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6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/ portal + 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562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00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9 · Carryover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562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38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Resources, progress portal &amp; report loop.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562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38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+ clinician web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1500" y="49022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WHERE SONA WINS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1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3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Own the first 30 days as one reviewed loop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65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67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Trust is the moat — clinician signs every AI draft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59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1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Start paediatric, then generalise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53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55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UK data residency + clinical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1500" y="6388100"/>
            <a:ext cx="11049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25" b="0">
                <a:solidFill>
                  <a:srgbClr val="8597A4"/>
                </a:solidFill>
                <a:latin typeface="Inter"/>
              </a:rPr>
              <a:t>Colour groups the nine stages into their five phases.   ·   Generalized across SLTs (Pediatric &amp; Adult).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